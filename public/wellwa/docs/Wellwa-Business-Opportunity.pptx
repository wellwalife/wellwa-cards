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1c013bddd2439e" /><Relationship Type="http://schemas.openxmlformats.org/officeDocument/2006/relationships/extended-properties" Target="/docProps/app.xml" Id="R73d22072cdf54fd9" /><Relationship Type="http://schemas.openxmlformats.org/officeDocument/2006/relationships/officeDocument" Target="/ppt/presentation.xml" Id="Rdbc6edb5f66e47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6c9b2ffe104140"/>
  </p:sldMasterIdLst>
  <p:notesMasterIdLst>
    <p:notesMasterId xmlns:r="http://schemas.openxmlformats.org/officeDocument/2006/relationships" r:id="R95277e1151804ba2"/>
  </p:notesMasterIdLst>
  <p:sldIdLst>
    <p:sldId xmlns:r="http://schemas.openxmlformats.org/officeDocument/2006/relationships" id="256" r:id="R0fc8e8a463a34f05"/>
    <p:sldId xmlns:r="http://schemas.openxmlformats.org/officeDocument/2006/relationships" id="257" r:id="R86a2e04487a54cc8"/>
    <p:sldId xmlns:r="http://schemas.openxmlformats.org/officeDocument/2006/relationships" id="258" r:id="Rd9c93bdfa9b54e58"/>
    <p:sldId xmlns:r="http://schemas.openxmlformats.org/officeDocument/2006/relationships" id="259" r:id="Rcab4a88d664d45ea"/>
    <p:sldId xmlns:r="http://schemas.openxmlformats.org/officeDocument/2006/relationships" id="260" r:id="Rf8c3fc7dabdb425b"/>
    <p:sldId xmlns:r="http://schemas.openxmlformats.org/officeDocument/2006/relationships" id="261" r:id="R7c273e86f74840b8"/>
    <p:sldId xmlns:r="http://schemas.openxmlformats.org/officeDocument/2006/relationships" id="262" r:id="R625f35e830c34c2a"/>
    <p:sldId xmlns:r="http://schemas.openxmlformats.org/officeDocument/2006/relationships" id="263" r:id="Rbe0f2b5b35f04b26"/>
    <p:sldId xmlns:r="http://schemas.openxmlformats.org/officeDocument/2006/relationships" id="264" r:id="Raae9fa8b852244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ee8b73ca2d4908" /><Relationship Type="http://schemas.openxmlformats.org/officeDocument/2006/relationships/slideMaster" Target="/ppt/slideMasters/slideMaster1.xml" Id="R2d6c9b2ffe104140" /><Relationship Type="http://schemas.openxmlformats.org/officeDocument/2006/relationships/notesMaster" Target="/ppt/notesMasters/notesMaster1.xml" Id="R95277e1151804ba2" /><Relationship Type="http://schemas.openxmlformats.org/officeDocument/2006/relationships/presProps" Target="/ppt/presProps.xml" Id="R83088253d1904b1c" /><Relationship Type="http://schemas.openxmlformats.org/officeDocument/2006/relationships/tableStyles" Target="/ppt/tableStyles.xml" Id="Rcfb4d5e63ba84a50" /><Relationship Type="http://schemas.openxmlformats.org/officeDocument/2006/relationships/slide" Target="/ppt/slides/slide1.xml" Id="R0fc8e8a463a34f05" /><Relationship Type="http://schemas.openxmlformats.org/officeDocument/2006/relationships/slide" Target="/ppt/slides/slide2.xml" Id="R86a2e04487a54cc8" /><Relationship Type="http://schemas.openxmlformats.org/officeDocument/2006/relationships/slide" Target="/ppt/slides/slide3.xml" Id="Rd9c93bdfa9b54e58" /><Relationship Type="http://schemas.openxmlformats.org/officeDocument/2006/relationships/slide" Target="/ppt/slides/slide4.xml" Id="Rcab4a88d664d45ea" /><Relationship Type="http://schemas.openxmlformats.org/officeDocument/2006/relationships/slide" Target="/ppt/slides/slide5.xml" Id="Rf8c3fc7dabdb425b" /><Relationship Type="http://schemas.openxmlformats.org/officeDocument/2006/relationships/slide" Target="/ppt/slides/slide6.xml" Id="R7c273e86f74840b8" /><Relationship Type="http://schemas.openxmlformats.org/officeDocument/2006/relationships/slide" Target="/ppt/slides/slide7.xml" Id="R625f35e830c34c2a" /><Relationship Type="http://schemas.openxmlformats.org/officeDocument/2006/relationships/slide" Target="/ppt/slides/slide8.xml" Id="Rbe0f2b5b35f04b26" /><Relationship Type="http://schemas.openxmlformats.org/officeDocument/2006/relationships/slide" Target="/ppt/slides/slide9.xml" Id="Raae9fa8b852244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42e7de7a3347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394074b2e742b1" /><Relationship Type="http://schemas.openxmlformats.org/officeDocument/2006/relationships/notesMaster" Target="/ppt/notesMasters/notesMaster1.xml" Id="R7a064bd26d8d48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60fae0a2a846e8" /><Relationship Type="http://schemas.openxmlformats.org/officeDocument/2006/relationships/notesMaster" Target="/ppt/notesMasters/notesMaster1.xml" Id="R54ed964bc96f46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d8fd1778434485" /><Relationship Type="http://schemas.openxmlformats.org/officeDocument/2006/relationships/notesMaster" Target="/ppt/notesMasters/notesMaster1.xml" Id="Ra8c9c97cfb3e4a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fcaa108d8e4524" /><Relationship Type="http://schemas.openxmlformats.org/officeDocument/2006/relationships/notesMaster" Target="/ppt/notesMasters/notesMaster1.xml" Id="R373e0b09d6aa4b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3b890dff2c49f3" /><Relationship Type="http://schemas.openxmlformats.org/officeDocument/2006/relationships/notesMaster" Target="/ppt/notesMasters/notesMaster1.xml" Id="R41daf78385e844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4966a200e24475" /><Relationship Type="http://schemas.openxmlformats.org/officeDocument/2006/relationships/notesMaster" Target="/ppt/notesMasters/notesMaster1.xml" Id="R87cd7e6de2dd47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04f8a0f380444f" /><Relationship Type="http://schemas.openxmlformats.org/officeDocument/2006/relationships/notesMaster" Target="/ppt/notesMasters/notesMaster1.xml" Id="R986b9f9ce0654c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712b0199014858" /><Relationship Type="http://schemas.openxmlformats.org/officeDocument/2006/relationships/notesMaster" Target="/ppt/notesMasters/notesMaster1.xml" Id="R13c0aa59573242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e9feb97b1a4e53" /><Relationship Type="http://schemas.openxmlformats.org/officeDocument/2006/relationships/notesMaster" Target="/ppt/notesMasters/notesMaster1.xml" Id="Rc96737e64a7749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https://wellwalife.com/</a:t>
            </a:r>
          </a:p>
          <a:p xmlns:a="http://schemas.openxmlformats.org/drawingml/2006/main">
            <a:r>
              <a:t>- Official Wellwa asset: /images/wellwa-aura-plus-kitchen-hero.webp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illustrative and does not depict a named customer or an actual Wellwa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https://wellwalife.com/</a:t>
            </a:r>
          </a:p>
          <a:p xmlns:a="http://schemas.openxmlformats.org/drawingml/2006/main">
            <a:r>
              <a:t>- OpenAI-generated illustrative asset: home-demo-consultation.png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https://wellwalife.com/</a:t>
            </a:r>
          </a:p>
          <a:p xmlns:a="http://schemas.openxmlformats.org/drawingml/2006/main">
            <a:r>
              <a:t>- https://wellwalife.com/products</a:t>
            </a:r>
          </a:p>
          <a:p xmlns:a="http://schemas.openxmlformats.org/drawingml/2006/main">
            <a:r>
              <a:t>- Official Wellwa product image assets under https://wellwalife.com/products/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https://wellwalife.com/</a:t>
            </a:r>
          </a:p>
          <a:p xmlns:a="http://schemas.openxmlformats.org/drawingml/2006/main">
            <a:r>
              <a:t>- https://wellwalife.com/compare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https://wellwalife.com/</a:t>
            </a:r>
          </a:p>
          <a:p xmlns:a="http://schemas.openxmlformats.org/drawingml/2006/main">
            <a:r>
              <a:t>- https://wellwalife.com/technology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https://wellwalife.com/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illustrative and does not depict a named distributor or an actual Wellwa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https://wellwalife.com/distributor/apply</a:t>
            </a:r>
          </a:p>
          <a:p xmlns:a="http://schemas.openxmlformats.org/drawingml/2006/main">
            <a:r>
              <a:t>- OpenAI-generated illustrative asset: distributor-training.png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launch path is a practical operating recommendation, not an official compensation plan or earnings projection.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https://wellwalife.com/distributor/apply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https://wellwalife.com/</a:t>
            </a:r>
          </a:p>
          <a:p xmlns:a="http://schemas.openxmlformats.org/drawingml/2006/main">
            <a:r>
              <a:t>- https://wellwalife.com/distributor/apply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5d43d928b48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2ecfbaa2084f2d" /><Relationship Type="http://schemas.openxmlformats.org/officeDocument/2006/relationships/slideLayout" Target="/ppt/slideLayouts/slideLayout1.xml" Id="R712a293b331b43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2a293b331b43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707c8181b40b4" /><Relationship Type="http://schemas.openxmlformats.org/officeDocument/2006/relationships/image" Target="/ppt/media/image.png" Id="R1f5a5fdd904e43c0" /><Relationship Type="http://schemas.openxmlformats.org/officeDocument/2006/relationships/image" Target="/ppt/media/image2.png" Id="R7e0c3ffbbc354c23" /><Relationship Type="http://schemas.openxmlformats.org/officeDocument/2006/relationships/notesSlide" Target="/ppt/notesSlides/notesSlide1.xml" Id="R7e28c3fcb1cc42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aef1367b64bc2" /><Relationship Type="http://schemas.openxmlformats.org/officeDocument/2006/relationships/image" Target="/ppt/media/image3.png" Id="Rf090c601ef774579" /><Relationship Type="http://schemas.openxmlformats.org/officeDocument/2006/relationships/notesSlide" Target="/ppt/notesSlides/notesSlide2.xml" Id="R101678f4e98047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b41e83b2549bd" /><Relationship Type="http://schemas.openxmlformats.org/officeDocument/2006/relationships/image" Target="/ppt/media/image4.png" Id="R372bc516ad924da2" /><Relationship Type="http://schemas.openxmlformats.org/officeDocument/2006/relationships/image" Target="/ppt/media/image5.png" Id="R4e3e76f159474109" /><Relationship Type="http://schemas.openxmlformats.org/officeDocument/2006/relationships/image" Target="/ppt/media/image6.png" Id="R4cc98777c1f54e44" /><Relationship Type="http://schemas.openxmlformats.org/officeDocument/2006/relationships/image" Target="/ppt/media/image7.png" Id="R19c834013bcd4057" /><Relationship Type="http://schemas.openxmlformats.org/officeDocument/2006/relationships/notesSlide" Target="/ppt/notesSlides/notesSlide3.xml" Id="Rdd24ca6ff0bc49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663f80959453b" /><Relationship Type="http://schemas.openxmlformats.org/officeDocument/2006/relationships/notesSlide" Target="/ppt/notesSlides/notesSlide4.xml" Id="R429ee14bd45046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8e72822ae4248" /><Relationship Type="http://schemas.openxmlformats.org/officeDocument/2006/relationships/notesSlide" Target="/ppt/notesSlides/notesSlide5.xml" Id="R27483003e29a47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c5aeed7cb4155" /><Relationship Type="http://schemas.openxmlformats.org/officeDocument/2006/relationships/notesSlide" Target="/ppt/notesSlides/notesSlide6.xml" Id="Rfe712deccf674a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8f07d926a48d1" /><Relationship Type="http://schemas.openxmlformats.org/officeDocument/2006/relationships/image" Target="/ppt/media/image8.png" Id="R98c32eeb0e264494" /><Relationship Type="http://schemas.openxmlformats.org/officeDocument/2006/relationships/notesSlide" Target="/ppt/notesSlides/notesSlide7.xml" Id="R7f7c6ab7f4824f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5911aecc2415d" /><Relationship Type="http://schemas.openxmlformats.org/officeDocument/2006/relationships/notesSlide" Target="/ppt/notesSlides/notesSlide8.xml" Id="Rf6bb0f765b6448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199a29e6e4814" /><Relationship Type="http://schemas.openxmlformats.org/officeDocument/2006/relationships/image" Target="/ppt/media/image9.png" Id="R828a13284ebe430b" /><Relationship Type="http://schemas.openxmlformats.org/officeDocument/2006/relationships/notesSlide" Target="/ppt/notesSlides/notesSlide9.xml" Id="R6c2c6a9b981144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a5fdd904e43c0"/>
          <a:srcRect xmlns:a="http://schemas.openxmlformats.org/drawingml/2006/main" l="22642" t="0" r="22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0"/>
            <a:ext cx="6667500" cy="6858000"/>
          </a:xfrm>
          <a:prstGeom xmlns:a="http://schemas.openxmlformats.org/drawingml/2006/main" prst="roundRect">
            <a:avLst>
              <a:gd name="adj" fmla="val 3143"/>
            </a:avLst>
          </a:prstGeom>
        </p:spPr>
      </p:pic>
      <p:sp>
        <p:nvSpPr>
          <p:cNvPr id="2" name="cover-overlay">
            <a:extLst xmlns:a="http://schemas.openxmlformats.org/drawingml/2006/main">
              <a:ext uri="{FF2B5EF4-FFF2-40B4-BE49-F238E27FC236}">
                <a16:creationId xmlns:a16="http://schemas.microsoft.com/office/drawing/2014/main" id="{69E9D34F-456B-4C08-992F-002DB343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brand-chip">
            <a:extLst xmlns:a="http://schemas.openxmlformats.org/drawingml/2006/main">
              <a:ext uri="{FF2B5EF4-FFF2-40B4-BE49-F238E27FC236}">
                <a16:creationId xmlns:a16="http://schemas.microsoft.com/office/drawing/2014/main" id="{FD833D45-4217-4786-88C7-08B6FDC9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0002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c3ffbbc354c23"/>
          <a:stretch xmlns:a="http://schemas.openxmlformats.org/drawingml/2006/main"/>
        </p:blipFill>
        <p:spPr>
          <a:xfrm xmlns:a="http://schemas.openxmlformats.org/drawingml/2006/main">
            <a:off x="1374775" y="685800"/>
            <a:ext cx="622300" cy="266700"/>
          </a:xfrm>
          <a:prstGeom xmlns:a="http://schemas.openxmlformats.org/drawingml/2006/main" prst="roundRect">
            <a:avLst>
              <a:gd name="adj" fmla="val 50000"/>
            </a:avLst>
          </a:prstGeom>
        </p:spPr>
      </p:pic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55D5646-503A-4B92-BEF2-C3641982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Smart water.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Connected care.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BAB25C-D595-4C19-9BA8-41691158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8ECEA"/>
                </a:solidFill>
              </a:defRPr>
            </a:pPr>
            <a:r>
              <a:rPr sz="1875">
                <a:solidFill>
                  <a:srgbClr val="D8ECEA"/>
                </a:solidFill>
              </a:rPr>
              <a:t>Wellwa distributor business opportunity overview</a:t>
            </a:r>
          </a:p>
        </p:txBody>
      </p:sp>
      <p:sp>
        <p:nvSpPr>
          <p:cNvPr id="7" name="cover-note">
            <a:extLst xmlns:a="http://schemas.openxmlformats.org/drawingml/2006/main">
              <a:ext uri="{FF2B5EF4-FFF2-40B4-BE49-F238E27FC236}">
                <a16:creationId xmlns:a16="http://schemas.microsoft.com/office/drawing/2014/main" id="{6858FF87-7D47-4530-9849-BCDADA63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DDDD3"/>
                </a:solidFill>
              </a:defRPr>
            </a:pPr>
            <a:r>
              <a:rPr sz="1200" b="1">
                <a:solidFill>
                  <a:srgbClr val="8DDDD3"/>
                </a:solidFill>
              </a:rPr>
              <a:t>Product-led • Demo-led • Service-supported</a:t>
            </a:r>
          </a:p>
        </p:txBody>
      </p:sp>
      <p:sp>
        <p:nvSpPr>
          <p:cNvPr id="8" name="cover-date">
            <a:extLst xmlns:a="http://schemas.openxmlformats.org/drawingml/2006/main">
              <a:ext uri="{FF2B5EF4-FFF2-40B4-BE49-F238E27FC236}">
                <a16:creationId xmlns:a16="http://schemas.microsoft.com/office/drawing/2014/main" id="{16EFF399-7DA3-48C8-8B05-DF42B46F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6C7D1"/>
                </a:solidFill>
              </a:defRPr>
            </a:pPr>
            <a:r>
              <a:rPr sz="900">
                <a:solidFill>
                  <a:srgbClr val="B6C7D1"/>
                </a:solidFill>
              </a:rPr>
              <a:t>Verified product information • August 2026</a:t>
            </a:r>
          </a:p>
        </p:txBody>
      </p:sp>
    </p:spTree>
    <p:extLst>
      <p:ext uri="{BB962C8B-B14F-4D97-AF65-F5344CB8AC3E}">
        <p14:creationId xmlns:p14="http://schemas.microsoft.com/office/powerpoint/2010/main" val="10140741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A9424CE7-41E3-4CE9-8CA6-791F115C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66D"/>
                </a:solidFill>
              </a:defRPr>
            </a:pPr>
            <a:r>
              <a:rPr sz="1050" b="1">
                <a:solidFill>
                  <a:srgbClr val="08766D"/>
                </a:solidFill>
              </a:rPr>
              <a:t>CUSTOMER FIRST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B115DC-999B-4379-8FEB-3211864F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The proposition begins with a better consultation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0c601ef774579"/>
          <a:srcRect xmlns:a="http://schemas.openxmlformats.org/drawingml/2006/main" l="10344" t="0" r="103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04950"/>
            <a:ext cx="5905500" cy="4191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8C62594E-F838-43D8-814E-ADFE126D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95450"/>
            <a:ext cx="4333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A responsible distributor helps a household make an informed choice—not a medical promise.</a:t>
            </a:r>
          </a:p>
        </p:txBody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7A891234-0C05-4D8A-AB3A-C0F1DE92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90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7333"/>
                </a:solidFill>
              </a:defRPr>
            </a:pPr>
            <a:r>
              <a:rPr sz="1350" b="1">
                <a:solidFill>
                  <a:srgbClr val="B87333"/>
                </a:solidFill>
              </a:rPr>
              <a:t>01</a:t>
            </a:r>
          </a:p>
        </p:txBody>
      </p:sp>
      <p:sp>
        <p:nvSpPr>
          <p:cNvPr id="6" name="head-0">
            <a:extLst xmlns:a="http://schemas.openxmlformats.org/drawingml/2006/main">
              <a:ext uri="{FF2B5EF4-FFF2-40B4-BE49-F238E27FC236}">
                <a16:creationId xmlns:a16="http://schemas.microsoft.com/office/drawing/2014/main" id="{42D3D7C8-71F8-4FC8-B523-8D2813A0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622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12B"/>
                </a:solidFill>
              </a:defRPr>
            </a:pPr>
            <a:r>
              <a:rPr sz="1500" b="1">
                <a:solidFill>
                  <a:srgbClr val="12212B"/>
                </a:solidFill>
              </a:rPr>
              <a:t>Review the source water</a:t>
            </a:r>
          </a:p>
        </p:txBody>
      </p:sp>
      <p:sp>
        <p:nvSpPr>
          <p:cNvPr id="7" name="body-0">
            <a:extLst xmlns:a="http://schemas.openxmlformats.org/drawingml/2006/main">
              <a:ext uri="{FF2B5EF4-FFF2-40B4-BE49-F238E27FC236}">
                <a16:creationId xmlns:a16="http://schemas.microsoft.com/office/drawing/2014/main" id="{866298C4-18AC-4BBF-A94D-2470A63C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766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471"/>
                </a:solidFill>
              </a:defRPr>
            </a:pPr>
            <a:r>
              <a:rPr sz="1200">
                <a:solidFill>
                  <a:srgbClr val="536471"/>
                </a:solidFill>
              </a:rPr>
              <a:t>City, source, TDS, hardness and pre-filtration affect compatibility.</a:t>
            </a:r>
          </a:p>
        </p:txBody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5EA43C40-2502-4058-94B6-4D4E48BE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24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7333"/>
                </a:solidFill>
              </a:defRPr>
            </a:pPr>
            <a:r>
              <a:rPr sz="1350" b="1">
                <a:solidFill>
                  <a:srgbClr val="B87333"/>
                </a:solidFill>
              </a:rPr>
              <a:t>02</a:t>
            </a:r>
          </a:p>
        </p:txBody>
      </p:sp>
      <p:sp>
        <p:nvSpPr>
          <p:cNvPr id="9" name="head-1">
            <a:extLst xmlns:a="http://schemas.openxmlformats.org/drawingml/2006/main">
              <a:ext uri="{FF2B5EF4-FFF2-40B4-BE49-F238E27FC236}">
                <a16:creationId xmlns:a16="http://schemas.microsoft.com/office/drawing/2014/main" id="{4EF45886-1C13-44FD-81CF-AFB2F3C4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957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12B"/>
                </a:solidFill>
              </a:defRPr>
            </a:pPr>
            <a:r>
              <a:rPr sz="1500" b="1">
                <a:solidFill>
                  <a:srgbClr val="12212B"/>
                </a:solidFill>
              </a:rPr>
              <a:t>Compare the right model</a:t>
            </a:r>
          </a:p>
        </p:txBody>
      </p:sp>
      <p:sp>
        <p:nvSpPr>
          <p:cNvPr id="10" name="body-1">
            <a:extLst xmlns:a="http://schemas.openxmlformats.org/drawingml/2006/main">
              <a:ext uri="{FF2B5EF4-FFF2-40B4-BE49-F238E27FC236}">
                <a16:creationId xmlns:a16="http://schemas.microsoft.com/office/drawing/2014/main" id="{8A064173-D050-4266-AA2D-1F6BB3E4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100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471"/>
                </a:solidFill>
              </a:defRPr>
            </a:pPr>
            <a:r>
              <a:rPr sz="1200">
                <a:solidFill>
                  <a:srgbClr val="536471"/>
                </a:solidFill>
              </a:rPr>
              <a:t>Use household size, daily usage and desired connected features.</a:t>
            </a:r>
          </a:p>
        </p:txBody>
      </p:sp>
      <p:sp>
        <p:nvSpPr>
          <p:cNvPr id="11" name="num-2">
            <a:extLst xmlns:a="http://schemas.openxmlformats.org/drawingml/2006/main">
              <a:ext uri="{FF2B5EF4-FFF2-40B4-BE49-F238E27FC236}">
                <a16:creationId xmlns:a16="http://schemas.microsoft.com/office/drawing/2014/main" id="{B140ED98-1CC7-40FC-924E-748F35E3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57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7333"/>
                </a:solidFill>
              </a:defRPr>
            </a:pPr>
            <a:r>
              <a:rPr sz="1350" b="1">
                <a:solidFill>
                  <a:srgbClr val="B87333"/>
                </a:solidFill>
              </a:rPr>
              <a:t>03</a:t>
            </a:r>
          </a:p>
        </p:txBody>
      </p:sp>
      <p:sp>
        <p:nvSpPr>
          <p:cNvPr id="12" name="head-2">
            <a:extLst xmlns:a="http://schemas.openxmlformats.org/drawingml/2006/main">
              <a:ext uri="{FF2B5EF4-FFF2-40B4-BE49-F238E27FC236}">
                <a16:creationId xmlns:a16="http://schemas.microsoft.com/office/drawing/2014/main" id="{86C547D8-E57E-4817-8ADB-4C316082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291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12B"/>
                </a:solidFill>
              </a:defRPr>
            </a:pPr>
            <a:r>
              <a:rPr sz="1500" b="1">
                <a:solidFill>
                  <a:srgbClr val="12212B"/>
                </a:solidFill>
              </a:rPr>
              <a:t>Set expectations clearly</a:t>
            </a:r>
          </a:p>
        </p:txBody>
      </p:sp>
      <p:sp>
        <p:nvSpPr>
          <p:cNvPr id="13" name="body-2">
            <a:extLst xmlns:a="http://schemas.openxmlformats.org/drawingml/2006/main">
              <a:ext uri="{FF2B5EF4-FFF2-40B4-BE49-F238E27FC236}">
                <a16:creationId xmlns:a16="http://schemas.microsoft.com/office/drawing/2014/main" id="{8EAB9C44-2C14-434A-8EF7-40553A0B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471"/>
                </a:solidFill>
              </a:defRPr>
            </a:pPr>
            <a:r>
              <a:rPr sz="1200">
                <a:solidFill>
                  <a:srgbClr val="536471"/>
                </a:solidFill>
              </a:rPr>
              <a:t>Published output varies with water quality, temperature, flow and calibration.</a:t>
            </a:r>
          </a:p>
        </p:txBody>
      </p:sp>
      <p:sp>
        <p:nvSpPr>
          <p:cNvPr id="14" name="footer-2">
            <a:extLst xmlns:a="http://schemas.openxmlformats.org/drawingml/2006/main">
              <a:ext uri="{FF2B5EF4-FFF2-40B4-BE49-F238E27FC236}">
                <a16:creationId xmlns:a16="http://schemas.microsoft.com/office/drawing/2014/main" id="{D7F82178-2756-44F0-932F-23FE07AA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A96"/>
                </a:solidFill>
              </a:defRPr>
            </a:pPr>
            <a:r>
              <a:rPr sz="750">
                <a:solidFill>
                  <a:srgbClr val="7A8A96"/>
                </a:solidFill>
              </a:rPr>
              <a:t>WELLWA LIFE  •  BUSINESS OPPORTUNITY OVERVIEW                                   02</a:t>
            </a:r>
          </a:p>
        </p:txBody>
      </p:sp>
    </p:spTree>
    <p:extLst>
      <p:ext uri="{BB962C8B-B14F-4D97-AF65-F5344CB8AC3E}">
        <p14:creationId xmlns:p14="http://schemas.microsoft.com/office/powerpoint/2010/main" val="2122674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75F66FB0-06BC-4266-8CD8-6E6332C6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66D"/>
                </a:solidFill>
              </a:defRPr>
            </a:pPr>
            <a:r>
              <a:rPr sz="1050" b="1">
                <a:solidFill>
                  <a:srgbClr val="08766D"/>
                </a:solidFill>
              </a:rPr>
              <a:t>PRODUCT RANGE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9607F3-4248-4B42-8ABF-863C1701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Four entry points serve different household needs</a:t>
            </a:r>
          </a:p>
        </p:txBody>
      </p:sp>
      <p:sp>
        <p:nvSpPr>
          <p:cNvPr id="3" name="product-bg-0">
            <a:extLst xmlns:a="http://schemas.openxmlformats.org/drawingml/2006/main">
              <a:ext uri="{FF2B5EF4-FFF2-40B4-BE49-F238E27FC236}">
                <a16:creationId xmlns:a16="http://schemas.microsoft.com/office/drawing/2014/main" id="{0FCFF8C8-AAD1-47AE-BB09-39863245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552700" cy="426720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8F6F1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bc516ad924da2"/>
          <a:stretch xmlns:a="http://schemas.openxmlformats.org/drawingml/2006/main"/>
        </p:blipFill>
        <p:spPr>
          <a:xfrm xmlns:a="http://schemas.openxmlformats.org/drawingml/2006/main">
            <a:off x="914400" y="1771650"/>
            <a:ext cx="2095500" cy="2095500"/>
          </a:xfrm>
          <a:prstGeom xmlns:a="http://schemas.openxmlformats.org/drawingml/2006/main" prst="roundRect">
            <a:avLst>
              <a:gd name="adj" fmla="val 10000"/>
            </a:avLst>
          </a:prstGeom>
        </p:spPr>
      </p:pic>
      <p:sp>
        <p:nvSpPr>
          <p:cNvPr id="5" name="product-badge-0">
            <a:extLst xmlns:a="http://schemas.openxmlformats.org/drawingml/2006/main">
              <a:ext uri="{FF2B5EF4-FFF2-40B4-BE49-F238E27FC236}">
                <a16:creationId xmlns:a16="http://schemas.microsoft.com/office/drawing/2014/main" id="{069A1E47-AAD5-445C-BD41-16E52D64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87333"/>
                </a:solidFill>
              </a:defRPr>
            </a:pPr>
            <a:r>
              <a:rPr sz="825" b="1">
                <a:solidFill>
                  <a:srgbClr val="B87333"/>
                </a:solidFill>
              </a:rPr>
              <a:t>START HERE</a:t>
            </a:r>
          </a:p>
        </p:txBody>
      </p:sp>
      <p:sp>
        <p:nvSpPr>
          <p:cNvPr id="6" name="product-name-0">
            <a:extLst xmlns:a="http://schemas.openxmlformats.org/drawingml/2006/main">
              <a:ext uri="{FF2B5EF4-FFF2-40B4-BE49-F238E27FC236}">
                <a16:creationId xmlns:a16="http://schemas.microsoft.com/office/drawing/2014/main" id="{BFD6F893-1BC2-475C-BDBD-75E926DC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Starter Pack</a:t>
            </a:r>
          </a:p>
        </p:txBody>
      </p:sp>
      <p:sp>
        <p:nvSpPr>
          <p:cNvPr id="7" name="product-meta-0">
            <a:extLst xmlns:a="http://schemas.openxmlformats.org/drawingml/2006/main">
              <a:ext uri="{FF2B5EF4-FFF2-40B4-BE49-F238E27FC236}">
                <a16:creationId xmlns:a16="http://schemas.microsoft.com/office/drawing/2014/main" id="{68C9FD03-744E-4322-820F-FB5EB3CD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7202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36471"/>
                </a:solidFill>
              </a:defRPr>
            </a:pPr>
            <a:r>
              <a:rPr sz="1050">
                <a:solidFill>
                  <a:srgbClr val="536471"/>
                </a:solidFill>
              </a:rPr>
              <a:t>Wellness starter</a:t>
            </a:r>
          </a:p>
        </p:txBody>
      </p:sp>
      <p:sp>
        <p:nvSpPr>
          <p:cNvPr id="8" name="product-price-0">
            <a:extLst xmlns:a="http://schemas.openxmlformats.org/drawingml/2006/main">
              <a:ext uri="{FF2B5EF4-FFF2-40B4-BE49-F238E27FC236}">
                <a16:creationId xmlns:a16="http://schemas.microsoft.com/office/drawing/2014/main" id="{16ADE32C-07B3-4989-858B-C3C825BD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66D"/>
                </a:solidFill>
              </a:defRPr>
            </a:pPr>
            <a:r>
              <a:rPr sz="1650" b="1">
                <a:solidFill>
                  <a:srgbClr val="08766D"/>
                </a:solidFill>
              </a:rPr>
              <a:t>₹11,800</a:t>
            </a:r>
          </a:p>
        </p:txBody>
      </p:sp>
      <p:sp>
        <p:nvSpPr>
          <p:cNvPr id="9" name="product-bg-1">
            <a:extLst xmlns:a="http://schemas.openxmlformats.org/drawingml/2006/main">
              <a:ext uri="{FF2B5EF4-FFF2-40B4-BE49-F238E27FC236}">
                <a16:creationId xmlns:a16="http://schemas.microsoft.com/office/drawing/2014/main" id="{4A74621F-2503-4008-A708-07C6A8CA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24000"/>
            <a:ext cx="2552700" cy="426720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8F6F1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e76f159474109"/>
          <a:stretch xmlns:a="http://schemas.openxmlformats.org/drawingml/2006/main"/>
        </p:blipFill>
        <p:spPr>
          <a:xfrm xmlns:a="http://schemas.openxmlformats.org/drawingml/2006/main">
            <a:off x="3904951" y="1771650"/>
            <a:ext cx="1676998" cy="2095500"/>
          </a:xfrm>
          <a:prstGeom xmlns:a="http://schemas.openxmlformats.org/drawingml/2006/main" prst="roundRect">
            <a:avLst>
              <a:gd name="adj" fmla="val 10000"/>
            </a:avLst>
          </a:prstGeom>
        </p:spPr>
      </p:pic>
      <p:sp>
        <p:nvSpPr>
          <p:cNvPr id="11" name="product-badge-1">
            <a:extLst xmlns:a="http://schemas.openxmlformats.org/drawingml/2006/main">
              <a:ext uri="{FF2B5EF4-FFF2-40B4-BE49-F238E27FC236}">
                <a16:creationId xmlns:a16="http://schemas.microsoft.com/office/drawing/2014/main" id="{13A2DA96-C4E1-4B62-A2B9-00FAFF83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576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87333"/>
                </a:solidFill>
              </a:defRPr>
            </a:pPr>
            <a:r>
              <a:rPr sz="825" b="1">
                <a:solidFill>
                  <a:srgbClr val="B87333"/>
                </a:solidFill>
              </a:rPr>
              <a:t>ESSENTIAL</a:t>
            </a:r>
          </a:p>
        </p:txBody>
      </p:sp>
      <p:sp>
        <p:nvSpPr>
          <p:cNvPr id="12" name="product-name-1">
            <a:extLst xmlns:a="http://schemas.openxmlformats.org/drawingml/2006/main">
              <a:ext uri="{FF2B5EF4-FFF2-40B4-BE49-F238E27FC236}">
                <a16:creationId xmlns:a16="http://schemas.microsoft.com/office/drawing/2014/main" id="{648C2EA5-80B1-47DA-86AD-02E5CAEF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624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Aura</a:t>
            </a:r>
          </a:p>
        </p:txBody>
      </p:sp>
      <p:sp>
        <p:nvSpPr>
          <p:cNvPr id="13" name="product-meta-1">
            <a:extLst xmlns:a="http://schemas.openxmlformats.org/drawingml/2006/main">
              <a:ext uri="{FF2B5EF4-FFF2-40B4-BE49-F238E27FC236}">
                <a16:creationId xmlns:a16="http://schemas.microsoft.com/office/drawing/2014/main" id="{7229C710-B051-4599-A085-5A26E214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7202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36471"/>
                </a:solidFill>
              </a:defRPr>
            </a:pPr>
            <a:r>
              <a:rPr sz="1050">
                <a:solidFill>
                  <a:srgbClr val="536471"/>
                </a:solidFill>
              </a:rPr>
              <a:t>Smart 5-plate ionizer</a:t>
            </a:r>
          </a:p>
        </p:txBody>
      </p:sp>
      <p:sp>
        <p:nvSpPr>
          <p:cNvPr id="14" name="product-price-1">
            <a:extLst xmlns:a="http://schemas.openxmlformats.org/drawingml/2006/main">
              <a:ext uri="{FF2B5EF4-FFF2-40B4-BE49-F238E27FC236}">
                <a16:creationId xmlns:a16="http://schemas.microsoft.com/office/drawing/2014/main" id="{566B7969-4640-4D57-974A-51C7B241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2387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66D"/>
                </a:solidFill>
              </a:defRPr>
            </a:pPr>
            <a:r>
              <a:rPr sz="1650" b="1">
                <a:solidFill>
                  <a:srgbClr val="08766D"/>
                </a:solidFill>
              </a:rPr>
              <a:t>₹90,000</a:t>
            </a:r>
          </a:p>
        </p:txBody>
      </p:sp>
      <p:sp>
        <p:nvSpPr>
          <p:cNvPr id="15" name="product-bg-2">
            <a:extLst xmlns:a="http://schemas.openxmlformats.org/drawingml/2006/main">
              <a:ext uri="{FF2B5EF4-FFF2-40B4-BE49-F238E27FC236}">
                <a16:creationId xmlns:a16="http://schemas.microsoft.com/office/drawing/2014/main" id="{C4407C98-36C2-4690-B444-B3AF20E1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24000"/>
            <a:ext cx="2552700" cy="426720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9525">
            <a:solidFill>
              <a:srgbClr val="0E9E90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98777c1f54e44"/>
          <a:stretch xmlns:a="http://schemas.openxmlformats.org/drawingml/2006/main"/>
        </p:blipFill>
        <p:spPr>
          <a:xfrm xmlns:a="http://schemas.openxmlformats.org/drawingml/2006/main">
            <a:off x="6477000" y="1771650"/>
            <a:ext cx="2095500" cy="2095500"/>
          </a:xfrm>
          <a:prstGeom xmlns:a="http://schemas.openxmlformats.org/drawingml/2006/main" prst="roundRect">
            <a:avLst>
              <a:gd name="adj" fmla="val 10000"/>
            </a:avLst>
          </a:prstGeom>
        </p:spPr>
      </p:pic>
      <p:sp>
        <p:nvSpPr>
          <p:cNvPr id="17" name="product-badge-2">
            <a:extLst xmlns:a="http://schemas.openxmlformats.org/drawingml/2006/main">
              <a:ext uri="{FF2B5EF4-FFF2-40B4-BE49-F238E27FC236}">
                <a16:creationId xmlns:a16="http://schemas.microsoft.com/office/drawing/2014/main" id="{EFFE541A-192E-4F86-8CA8-6137C8C7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766D"/>
                </a:solidFill>
              </a:defRPr>
            </a:pPr>
            <a:r>
              <a:rPr sz="825" b="1">
                <a:solidFill>
                  <a:srgbClr val="08766D"/>
                </a:solidFill>
              </a:rPr>
              <a:t>MOST POPULAR</a:t>
            </a:r>
          </a:p>
        </p:txBody>
      </p:sp>
      <p:sp>
        <p:nvSpPr>
          <p:cNvPr id="18" name="product-name-2">
            <a:extLst xmlns:a="http://schemas.openxmlformats.org/drawingml/2006/main">
              <a:ext uri="{FF2B5EF4-FFF2-40B4-BE49-F238E27FC236}">
                <a16:creationId xmlns:a16="http://schemas.microsoft.com/office/drawing/2014/main" id="{AA4C1D0D-DAD1-4089-9E80-D9594516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624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Aura Plus</a:t>
            </a:r>
          </a:p>
        </p:txBody>
      </p:sp>
      <p:sp>
        <p:nvSpPr>
          <p:cNvPr id="19" name="product-meta-2">
            <a:extLst xmlns:a="http://schemas.openxmlformats.org/drawingml/2006/main">
              <a:ext uri="{FF2B5EF4-FFF2-40B4-BE49-F238E27FC236}">
                <a16:creationId xmlns:a16="http://schemas.microsoft.com/office/drawing/2014/main" id="{F3B19DBC-21D0-4003-949D-DA51AE9A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7202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36471"/>
                </a:solidFill>
              </a:defRPr>
            </a:pPr>
            <a:r>
              <a:rPr sz="1050">
                <a:solidFill>
                  <a:srgbClr val="536471"/>
                </a:solidFill>
              </a:rPr>
              <a:t>Smart 7-plate ionizer</a:t>
            </a:r>
          </a:p>
        </p:txBody>
      </p:sp>
      <p:sp>
        <p:nvSpPr>
          <p:cNvPr id="20" name="product-price-2">
            <a:extLst xmlns:a="http://schemas.openxmlformats.org/drawingml/2006/main">
              <a:ext uri="{FF2B5EF4-FFF2-40B4-BE49-F238E27FC236}">
                <a16:creationId xmlns:a16="http://schemas.microsoft.com/office/drawing/2014/main" id="{1DF14820-8A42-4731-A3E5-A48877E0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387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66D"/>
                </a:solidFill>
              </a:defRPr>
            </a:pPr>
            <a:r>
              <a:rPr sz="1650" b="1">
                <a:solidFill>
                  <a:srgbClr val="08766D"/>
                </a:solidFill>
              </a:rPr>
              <a:t>₹1,25,000</a:t>
            </a:r>
          </a:p>
        </p:txBody>
      </p:sp>
      <p:sp>
        <p:nvSpPr>
          <p:cNvPr id="21" name="product-bg-3">
            <a:extLst xmlns:a="http://schemas.openxmlformats.org/drawingml/2006/main">
              <a:ext uri="{FF2B5EF4-FFF2-40B4-BE49-F238E27FC236}">
                <a16:creationId xmlns:a16="http://schemas.microsoft.com/office/drawing/2014/main" id="{51D4ACB3-EE19-478F-9167-D16CB68D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24000"/>
            <a:ext cx="2552700" cy="426720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8F6F1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834013bcd4057"/>
          <a:stretch xmlns:a="http://schemas.openxmlformats.org/drawingml/2006/main"/>
        </p:blipFill>
        <p:spPr>
          <a:xfrm xmlns:a="http://schemas.openxmlformats.org/drawingml/2006/main">
            <a:off x="9467551" y="1771650"/>
            <a:ext cx="1676998" cy="2095500"/>
          </a:xfrm>
          <a:prstGeom xmlns:a="http://schemas.openxmlformats.org/drawingml/2006/main" prst="roundRect">
            <a:avLst>
              <a:gd name="adj" fmla="val 10000"/>
            </a:avLst>
          </a:prstGeom>
        </p:spPr>
      </p:pic>
      <p:sp>
        <p:nvSpPr>
          <p:cNvPr id="23" name="product-badge-3">
            <a:extLst xmlns:a="http://schemas.openxmlformats.org/drawingml/2006/main">
              <a:ext uri="{FF2B5EF4-FFF2-40B4-BE49-F238E27FC236}">
                <a16:creationId xmlns:a16="http://schemas.microsoft.com/office/drawing/2014/main" id="{02DC35BF-8D74-451C-A3C8-E9002E6B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576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87333"/>
                </a:solidFill>
              </a:defRPr>
            </a:pPr>
            <a:r>
              <a:rPr sz="825" b="1">
                <a:solidFill>
                  <a:srgbClr val="B87333"/>
                </a:solidFill>
              </a:rPr>
              <a:t>MAX PERFORMANCE</a:t>
            </a:r>
          </a:p>
        </p:txBody>
      </p:sp>
      <p:sp>
        <p:nvSpPr>
          <p:cNvPr id="24" name="product-name-3">
            <a:extLst xmlns:a="http://schemas.openxmlformats.org/drawingml/2006/main">
              <a:ext uri="{FF2B5EF4-FFF2-40B4-BE49-F238E27FC236}">
                <a16:creationId xmlns:a16="http://schemas.microsoft.com/office/drawing/2014/main" id="{0F462C71-3750-44E9-AD20-CD583503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624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Aura Maxx</a:t>
            </a:r>
          </a:p>
        </p:txBody>
      </p:sp>
      <p:sp>
        <p:nvSpPr>
          <p:cNvPr id="25" name="product-meta-3">
            <a:extLst xmlns:a="http://schemas.openxmlformats.org/drawingml/2006/main">
              <a:ext uri="{FF2B5EF4-FFF2-40B4-BE49-F238E27FC236}">
                <a16:creationId xmlns:a16="http://schemas.microsoft.com/office/drawing/2014/main" id="{1C11DBE9-6E16-4433-B5AD-9C95F49E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72025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36471"/>
                </a:solidFill>
              </a:defRPr>
            </a:pPr>
            <a:r>
              <a:rPr sz="1050">
                <a:solidFill>
                  <a:srgbClr val="536471"/>
                </a:solidFill>
              </a:rPr>
              <a:t>Smart 8-plate ionizer</a:t>
            </a:r>
          </a:p>
        </p:txBody>
      </p:sp>
      <p:sp>
        <p:nvSpPr>
          <p:cNvPr id="26" name="product-price-3">
            <a:extLst xmlns:a="http://schemas.openxmlformats.org/drawingml/2006/main">
              <a:ext uri="{FF2B5EF4-FFF2-40B4-BE49-F238E27FC236}">
                <a16:creationId xmlns:a16="http://schemas.microsoft.com/office/drawing/2014/main" id="{9523C6C9-919F-42AE-935F-FF16CC79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2387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66D"/>
                </a:solidFill>
              </a:defRPr>
            </a:pPr>
            <a:r>
              <a:rPr sz="1650" b="1">
                <a:solidFill>
                  <a:srgbClr val="08766D"/>
                </a:solidFill>
              </a:rPr>
              <a:t>₹1,50,000</a:t>
            </a:r>
          </a:p>
        </p:txBody>
      </p:sp>
      <p:sp>
        <p:nvSpPr>
          <p:cNvPr id="27" name="price-note">
            <a:extLst xmlns:a="http://schemas.openxmlformats.org/drawingml/2006/main">
              <a:ext uri="{FF2B5EF4-FFF2-40B4-BE49-F238E27FC236}">
                <a16:creationId xmlns:a16="http://schemas.microsoft.com/office/drawing/2014/main" id="{C9D92A0A-00C4-43E5-ABA2-C10E8CCC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36471"/>
                </a:solidFill>
              </a:defRPr>
            </a:pPr>
            <a:r>
              <a:rPr sz="975">
                <a:solidFill>
                  <a:srgbClr val="536471"/>
                </a:solidFill>
              </a:rPr>
              <a:t>Published retail prices shown. Confirm current stock, tax, installation and commercial terms before sale.</a:t>
            </a:r>
          </a:p>
        </p:txBody>
      </p:sp>
      <p:sp>
        <p:nvSpPr>
          <p:cNvPr id="28" name="footer-3">
            <a:extLst xmlns:a="http://schemas.openxmlformats.org/drawingml/2006/main">
              <a:ext uri="{FF2B5EF4-FFF2-40B4-BE49-F238E27FC236}">
                <a16:creationId xmlns:a16="http://schemas.microsoft.com/office/drawing/2014/main" id="{AC3B6C60-4C90-4CED-832F-AA84E2C1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A96"/>
                </a:solidFill>
              </a:defRPr>
            </a:pPr>
            <a:r>
              <a:rPr sz="750">
                <a:solidFill>
                  <a:srgbClr val="7A8A96"/>
                </a:solidFill>
              </a:rPr>
              <a:t>WELLWA LIFE  •  BUSINESS OPPORTUNITY OVERVIEW                                   03</a:t>
            </a:r>
          </a:p>
        </p:txBody>
      </p:sp>
    </p:spTree>
    <p:extLst>
      <p:ext uri="{BB962C8B-B14F-4D97-AF65-F5344CB8AC3E}">
        <p14:creationId xmlns:p14="http://schemas.microsoft.com/office/powerpoint/2010/main" val="3707608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44BCDBAC-DBA3-43EB-B2C8-85515115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66D"/>
                </a:solidFill>
              </a:defRPr>
            </a:pPr>
            <a:r>
              <a:rPr sz="1050" b="1">
                <a:solidFill>
                  <a:srgbClr val="08766D"/>
                </a:solidFill>
              </a:rPr>
              <a:t>AURA COMPARISON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74565A-F11D-45B0-8A08-872A45CA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Model choice is a fit decision—not a ranking</a:t>
            </a:r>
          </a:p>
        </p:txBody>
      </p:sp>
      <p:sp>
        <p:nvSpPr>
          <p:cNvPr id="3" name="model-0">
            <a:extLst xmlns:a="http://schemas.openxmlformats.org/drawingml/2006/main">
              <a:ext uri="{FF2B5EF4-FFF2-40B4-BE49-F238E27FC236}">
                <a16:creationId xmlns:a16="http://schemas.microsoft.com/office/drawing/2014/main" id="{B9D80B91-BBD4-4D9D-9EE9-B011FFEB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048000" cy="419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</p:sp>
      <p:sp>
        <p:nvSpPr>
          <p:cNvPr id="4" name="model-name-0">
            <a:extLst xmlns:a="http://schemas.openxmlformats.org/drawingml/2006/main">
              <a:ext uri="{FF2B5EF4-FFF2-40B4-BE49-F238E27FC236}">
                <a16:creationId xmlns:a16="http://schemas.microsoft.com/office/drawing/2014/main" id="{0E64117B-9707-4D1E-8FEB-44270D0C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AURA</a:t>
            </a:r>
          </a:p>
        </p:txBody>
      </p:sp>
      <p:sp>
        <p:nvSpPr>
          <p:cNvPr id="5" name="model-fit-0">
            <a:extLst xmlns:a="http://schemas.openxmlformats.org/drawingml/2006/main">
              <a:ext uri="{FF2B5EF4-FFF2-40B4-BE49-F238E27FC236}">
                <a16:creationId xmlns:a16="http://schemas.microsoft.com/office/drawing/2014/main" id="{9B091BEF-F3E9-4A7A-90AC-6DFF0DFC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471"/>
                </a:solidFill>
              </a:defRPr>
            </a:pPr>
            <a:r>
              <a:rPr sz="1200">
                <a:solidFill>
                  <a:srgbClr val="536471"/>
                </a:solidFill>
              </a:rPr>
              <a:t>Compact everyday use</a:t>
            </a:r>
          </a:p>
        </p:txBody>
      </p:sp>
      <p:sp>
        <p:nvSpPr>
          <p:cNvPr id="6" name="label-0-0">
            <a:extLst xmlns:a="http://schemas.openxmlformats.org/drawingml/2006/main">
              <a:ext uri="{FF2B5EF4-FFF2-40B4-BE49-F238E27FC236}">
                <a16:creationId xmlns:a16="http://schemas.microsoft.com/office/drawing/2014/main" id="{A596148C-E63E-41E5-8639-B10C8ED9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471"/>
                </a:solidFill>
              </a:defRPr>
            </a:pPr>
            <a:r>
              <a:rPr sz="975">
                <a:solidFill>
                  <a:srgbClr val="536471"/>
                </a:solidFill>
              </a:rPr>
              <a:t>Electrolysis</a:t>
            </a:r>
          </a:p>
        </p:txBody>
      </p:sp>
      <p:sp>
        <p:nvSpPr>
          <p:cNvPr id="7" name="value-0-0">
            <a:extLst xmlns:a="http://schemas.openxmlformats.org/drawingml/2006/main">
              <a:ext uri="{FF2B5EF4-FFF2-40B4-BE49-F238E27FC236}">
                <a16:creationId xmlns:a16="http://schemas.microsoft.com/office/drawing/2014/main" id="{EFBF6C06-D6E2-4FC3-AF41-381F2A3D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718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2212B"/>
                </a:solidFill>
              </a:defRPr>
            </a:pPr>
            <a:r>
              <a:rPr sz="1200" b="1">
                <a:solidFill>
                  <a:srgbClr val="12212B"/>
                </a:solidFill>
              </a:rPr>
              <a:t>5 plates</a:t>
            </a:r>
          </a:p>
        </p:txBody>
      </p:sp>
      <p:sp>
        <p:nvSpPr>
          <p:cNvPr id="8" name="label-0-1">
            <a:extLst xmlns:a="http://schemas.openxmlformats.org/drawingml/2006/main">
              <a:ext uri="{FF2B5EF4-FFF2-40B4-BE49-F238E27FC236}">
                <a16:creationId xmlns:a16="http://schemas.microsoft.com/office/drawing/2014/main" id="{424374F3-03B0-475F-9598-4DE74CB2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471"/>
                </a:solidFill>
              </a:defRPr>
            </a:pPr>
            <a:r>
              <a:rPr sz="975">
                <a:solidFill>
                  <a:srgbClr val="536471"/>
                </a:solidFill>
              </a:rPr>
              <a:t>Published pH</a:t>
            </a:r>
          </a:p>
        </p:txBody>
      </p:sp>
      <p:sp>
        <p:nvSpPr>
          <p:cNvPr id="9" name="value-0-1">
            <a:extLst xmlns:a="http://schemas.openxmlformats.org/drawingml/2006/main">
              <a:ext uri="{FF2B5EF4-FFF2-40B4-BE49-F238E27FC236}">
                <a16:creationId xmlns:a16="http://schemas.microsoft.com/office/drawing/2014/main" id="{CC0F4D59-B631-4092-9C60-D57603F1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623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2212B"/>
                </a:solidFill>
              </a:defRPr>
            </a:pPr>
            <a:r>
              <a:rPr sz="1200" b="1">
                <a:solidFill>
                  <a:srgbClr val="12212B"/>
                </a:solidFill>
              </a:rPr>
              <a:t>4.0–10.0+</a:t>
            </a:r>
          </a:p>
        </p:txBody>
      </p:sp>
      <p:sp>
        <p:nvSpPr>
          <p:cNvPr id="10" name="label-0-2">
            <a:extLst xmlns:a="http://schemas.openxmlformats.org/drawingml/2006/main">
              <a:ext uri="{FF2B5EF4-FFF2-40B4-BE49-F238E27FC236}">
                <a16:creationId xmlns:a16="http://schemas.microsoft.com/office/drawing/2014/main" id="{F5A69C64-3B49-4514-A6A9-14EF29F9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471"/>
                </a:solidFill>
              </a:defRPr>
            </a:pPr>
            <a:r>
              <a:rPr sz="975">
                <a:solidFill>
                  <a:srgbClr val="536471"/>
                </a:solidFill>
              </a:rPr>
              <a:t>ORP estimate</a:t>
            </a:r>
          </a:p>
        </p:txBody>
      </p:sp>
      <p:sp>
        <p:nvSpPr>
          <p:cNvPr id="11" name="value-0-2">
            <a:extLst xmlns:a="http://schemas.openxmlformats.org/drawingml/2006/main">
              <a:ext uri="{FF2B5EF4-FFF2-40B4-BE49-F238E27FC236}">
                <a16:creationId xmlns:a16="http://schemas.microsoft.com/office/drawing/2014/main" id="{4372BFF2-D215-4DB9-819B-93D88243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529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2212B"/>
                </a:solidFill>
              </a:defRPr>
            </a:pPr>
            <a:r>
              <a:rPr sz="1200" b="1">
                <a:solidFill>
                  <a:srgbClr val="12212B"/>
                </a:solidFill>
              </a:rPr>
              <a:t>Up to −750 mV</a:t>
            </a:r>
          </a:p>
        </p:txBody>
      </p:sp>
      <p:sp>
        <p:nvSpPr>
          <p:cNvPr id="12" name="label-0-3">
            <a:extLst xmlns:a="http://schemas.openxmlformats.org/drawingml/2006/main">
              <a:ext uri="{FF2B5EF4-FFF2-40B4-BE49-F238E27FC236}">
                <a16:creationId xmlns:a16="http://schemas.microsoft.com/office/drawing/2014/main" id="{6663E814-DC83-4B7E-9DDF-9DE3D3A3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471"/>
                </a:solidFill>
              </a:defRPr>
            </a:pPr>
            <a:r>
              <a:rPr sz="975">
                <a:solidFill>
                  <a:srgbClr val="536471"/>
                </a:solidFill>
              </a:rPr>
              <a:t>Hydrogen H₂</a:t>
            </a:r>
          </a:p>
        </p:txBody>
      </p:sp>
      <p:sp>
        <p:nvSpPr>
          <p:cNvPr id="13" name="value-0-3">
            <a:extLst xmlns:a="http://schemas.openxmlformats.org/drawingml/2006/main">
              <a:ext uri="{FF2B5EF4-FFF2-40B4-BE49-F238E27FC236}">
                <a16:creationId xmlns:a16="http://schemas.microsoft.com/office/drawing/2014/main" id="{B274424D-5041-4088-B5A6-49D0F851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434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2212B"/>
                </a:solidFill>
              </a:defRPr>
            </a:pPr>
            <a:r>
              <a:rPr sz="1200" b="1">
                <a:solidFill>
                  <a:srgbClr val="12212B"/>
                </a:solidFill>
              </a:rPr>
              <a:t>Up to 1,500 ppb</a:t>
            </a:r>
          </a:p>
        </p:txBody>
      </p:sp>
      <p:sp>
        <p:nvSpPr>
          <p:cNvPr id="14" name="model-1">
            <a:extLst xmlns:a="http://schemas.openxmlformats.org/drawingml/2006/main">
              <a:ext uri="{FF2B5EF4-FFF2-40B4-BE49-F238E27FC236}">
                <a16:creationId xmlns:a16="http://schemas.microsoft.com/office/drawing/2014/main" id="{0ACFDA36-E843-46E9-A918-7DFF9E5F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04950"/>
            <a:ext cx="3048000" cy="419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5" name="model-name-1">
            <a:extLst xmlns:a="http://schemas.openxmlformats.org/drawingml/2006/main">
              <a:ext uri="{FF2B5EF4-FFF2-40B4-BE49-F238E27FC236}">
                <a16:creationId xmlns:a16="http://schemas.microsoft.com/office/drawing/2014/main" id="{50EA6A8E-4C96-40E4-92F7-956E8C43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AURA PLUS</a:t>
            </a:r>
          </a:p>
        </p:txBody>
      </p:sp>
      <p:sp>
        <p:nvSpPr>
          <p:cNvPr id="16" name="model-fit-1">
            <a:extLst xmlns:a="http://schemas.openxmlformats.org/drawingml/2006/main">
              <a:ext uri="{FF2B5EF4-FFF2-40B4-BE49-F238E27FC236}">
                <a16:creationId xmlns:a16="http://schemas.microsoft.com/office/drawing/2014/main" id="{52BC5002-255D-426C-A0CA-40D5471F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98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DCDF"/>
                </a:solidFill>
              </a:defRPr>
            </a:pPr>
            <a:r>
              <a:rPr sz="1200">
                <a:solidFill>
                  <a:srgbClr val="C9DCDF"/>
                </a:solidFill>
              </a:rPr>
              <a:t>Balanced family flagship</a:t>
            </a:r>
          </a:p>
        </p:txBody>
      </p:sp>
      <p:sp>
        <p:nvSpPr>
          <p:cNvPr id="17" name="label-1-0">
            <a:extLst xmlns:a="http://schemas.openxmlformats.org/drawingml/2006/main">
              <a:ext uri="{FF2B5EF4-FFF2-40B4-BE49-F238E27FC236}">
                <a16:creationId xmlns:a16="http://schemas.microsoft.com/office/drawing/2014/main" id="{05B37433-56E2-4883-BCE9-4E95FBED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908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9BEC4"/>
                </a:solidFill>
              </a:defRPr>
            </a:pPr>
            <a:r>
              <a:rPr sz="975">
                <a:solidFill>
                  <a:srgbClr val="A9BEC4"/>
                </a:solidFill>
              </a:rPr>
              <a:t>Electrolysis</a:t>
            </a:r>
          </a:p>
        </p:txBody>
      </p:sp>
      <p:sp>
        <p:nvSpPr>
          <p:cNvPr id="18" name="value-1-0">
            <a:extLst xmlns:a="http://schemas.openxmlformats.org/drawingml/2006/main">
              <a:ext uri="{FF2B5EF4-FFF2-40B4-BE49-F238E27FC236}">
                <a16:creationId xmlns:a16="http://schemas.microsoft.com/office/drawing/2014/main" id="{5A955C02-3E09-4DE2-8979-F706FECC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718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7 plates</a:t>
            </a:r>
          </a:p>
        </p:txBody>
      </p:sp>
      <p:sp>
        <p:nvSpPr>
          <p:cNvPr id="19" name="label-1-1">
            <a:extLst xmlns:a="http://schemas.openxmlformats.org/drawingml/2006/main">
              <a:ext uri="{FF2B5EF4-FFF2-40B4-BE49-F238E27FC236}">
                <a16:creationId xmlns:a16="http://schemas.microsoft.com/office/drawing/2014/main" id="{1B942DE1-0BA5-41B7-A10E-770E6CA3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814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9BEC4"/>
                </a:solidFill>
              </a:defRPr>
            </a:pPr>
            <a:r>
              <a:rPr sz="975">
                <a:solidFill>
                  <a:srgbClr val="A9BEC4"/>
                </a:solidFill>
              </a:rPr>
              <a:t>Published pH</a:t>
            </a:r>
          </a:p>
        </p:txBody>
      </p:sp>
      <p:sp>
        <p:nvSpPr>
          <p:cNvPr id="20" name="value-1-1">
            <a:extLst xmlns:a="http://schemas.openxmlformats.org/drawingml/2006/main">
              <a:ext uri="{FF2B5EF4-FFF2-40B4-BE49-F238E27FC236}">
                <a16:creationId xmlns:a16="http://schemas.microsoft.com/office/drawing/2014/main" id="{70594459-A771-4EAD-8874-2E113E9F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623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3.5–10.5+</a:t>
            </a:r>
          </a:p>
        </p:txBody>
      </p:sp>
      <p:sp>
        <p:nvSpPr>
          <p:cNvPr id="21" name="label-1-2">
            <a:extLst xmlns:a="http://schemas.openxmlformats.org/drawingml/2006/main">
              <a:ext uri="{FF2B5EF4-FFF2-40B4-BE49-F238E27FC236}">
                <a16:creationId xmlns:a16="http://schemas.microsoft.com/office/drawing/2014/main" id="{21BF9C5C-7364-453A-8F66-1A4AB10F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719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9BEC4"/>
                </a:solidFill>
              </a:defRPr>
            </a:pPr>
            <a:r>
              <a:rPr sz="975">
                <a:solidFill>
                  <a:srgbClr val="A9BEC4"/>
                </a:solidFill>
              </a:rPr>
              <a:t>ORP estimate</a:t>
            </a:r>
          </a:p>
        </p:txBody>
      </p:sp>
      <p:sp>
        <p:nvSpPr>
          <p:cNvPr id="22" name="value-1-2">
            <a:extLst xmlns:a="http://schemas.openxmlformats.org/drawingml/2006/main">
              <a:ext uri="{FF2B5EF4-FFF2-40B4-BE49-F238E27FC236}">
                <a16:creationId xmlns:a16="http://schemas.microsoft.com/office/drawing/2014/main" id="{38A937C4-DD40-44A3-B64D-CC25FA5C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Up to −800 mV</a:t>
            </a:r>
          </a:p>
        </p:txBody>
      </p:sp>
      <p:sp>
        <p:nvSpPr>
          <p:cNvPr id="23" name="label-1-3">
            <a:extLst xmlns:a="http://schemas.openxmlformats.org/drawingml/2006/main">
              <a:ext uri="{FF2B5EF4-FFF2-40B4-BE49-F238E27FC236}">
                <a16:creationId xmlns:a16="http://schemas.microsoft.com/office/drawing/2014/main" id="{D4B9708A-C8F8-4CAA-9B58-91A6F70F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625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9BEC4"/>
                </a:solidFill>
              </a:defRPr>
            </a:pPr>
            <a:r>
              <a:rPr sz="975">
                <a:solidFill>
                  <a:srgbClr val="A9BEC4"/>
                </a:solidFill>
              </a:rPr>
              <a:t>Hydrogen H₂</a:t>
            </a:r>
          </a:p>
        </p:txBody>
      </p:sp>
      <p:sp>
        <p:nvSpPr>
          <p:cNvPr id="24" name="value-1-3">
            <a:extLst xmlns:a="http://schemas.openxmlformats.org/drawingml/2006/main">
              <a:ext uri="{FF2B5EF4-FFF2-40B4-BE49-F238E27FC236}">
                <a16:creationId xmlns:a16="http://schemas.microsoft.com/office/drawing/2014/main" id="{437FFD84-6C29-4F0E-9B3F-2BCC8F39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434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Up to 1,600 ppb</a:t>
            </a:r>
          </a:p>
        </p:txBody>
      </p:sp>
      <p:sp>
        <p:nvSpPr>
          <p:cNvPr id="25" name="model-2">
            <a:extLst xmlns:a="http://schemas.openxmlformats.org/drawingml/2006/main">
              <a:ext uri="{FF2B5EF4-FFF2-40B4-BE49-F238E27FC236}">
                <a16:creationId xmlns:a16="http://schemas.microsoft.com/office/drawing/2014/main" id="{608226E9-0B0E-4E90-8D11-02F71326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04950"/>
            <a:ext cx="3048000" cy="419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</p:sp>
      <p:sp>
        <p:nvSpPr>
          <p:cNvPr id="26" name="model-name-2">
            <a:extLst xmlns:a="http://schemas.openxmlformats.org/drawingml/2006/main">
              <a:ext uri="{FF2B5EF4-FFF2-40B4-BE49-F238E27FC236}">
                <a16:creationId xmlns:a16="http://schemas.microsoft.com/office/drawing/2014/main" id="{EFA14505-38C1-456B-8C71-A8685D39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AURA MAXX</a:t>
            </a:r>
          </a:p>
        </p:txBody>
      </p:sp>
      <p:sp>
        <p:nvSpPr>
          <p:cNvPr id="27" name="model-fit-2">
            <a:extLst xmlns:a="http://schemas.openxmlformats.org/drawingml/2006/main">
              <a:ext uri="{FF2B5EF4-FFF2-40B4-BE49-F238E27FC236}">
                <a16:creationId xmlns:a16="http://schemas.microsoft.com/office/drawing/2014/main" id="{9F9C1651-F3A8-40F8-8DBE-B38B8068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098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471"/>
                </a:solidFill>
              </a:defRPr>
            </a:pPr>
            <a:r>
              <a:rPr sz="1200">
                <a:solidFill>
                  <a:srgbClr val="536471"/>
                </a:solidFill>
              </a:rPr>
              <a:t>Larger families / high usage</a:t>
            </a:r>
          </a:p>
        </p:txBody>
      </p:sp>
      <p:sp>
        <p:nvSpPr>
          <p:cNvPr id="28" name="label-2-0">
            <a:extLst xmlns:a="http://schemas.openxmlformats.org/drawingml/2006/main">
              <a:ext uri="{FF2B5EF4-FFF2-40B4-BE49-F238E27FC236}">
                <a16:creationId xmlns:a16="http://schemas.microsoft.com/office/drawing/2014/main" id="{1C5BEBF8-A6A2-42DE-BE8C-8D82FE6D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908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471"/>
                </a:solidFill>
              </a:defRPr>
            </a:pPr>
            <a:r>
              <a:rPr sz="975">
                <a:solidFill>
                  <a:srgbClr val="536471"/>
                </a:solidFill>
              </a:rPr>
              <a:t>Electrolysis</a:t>
            </a:r>
          </a:p>
        </p:txBody>
      </p:sp>
      <p:sp>
        <p:nvSpPr>
          <p:cNvPr id="29" name="value-2-0">
            <a:extLst xmlns:a="http://schemas.openxmlformats.org/drawingml/2006/main">
              <a:ext uri="{FF2B5EF4-FFF2-40B4-BE49-F238E27FC236}">
                <a16:creationId xmlns:a16="http://schemas.microsoft.com/office/drawing/2014/main" id="{DEFCE3E0-01EB-4804-A237-6A8C00D9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718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2212B"/>
                </a:solidFill>
              </a:defRPr>
            </a:pPr>
            <a:r>
              <a:rPr sz="1200" b="1">
                <a:solidFill>
                  <a:srgbClr val="12212B"/>
                </a:solidFill>
              </a:rPr>
              <a:t>8 plates</a:t>
            </a:r>
          </a:p>
        </p:txBody>
      </p:sp>
      <p:sp>
        <p:nvSpPr>
          <p:cNvPr id="30" name="label-2-1">
            <a:extLst xmlns:a="http://schemas.openxmlformats.org/drawingml/2006/main">
              <a:ext uri="{FF2B5EF4-FFF2-40B4-BE49-F238E27FC236}">
                <a16:creationId xmlns:a16="http://schemas.microsoft.com/office/drawing/2014/main" id="{7AEE3DEA-CEEE-401F-A92E-0863CA82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814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471"/>
                </a:solidFill>
              </a:defRPr>
            </a:pPr>
            <a:r>
              <a:rPr sz="975">
                <a:solidFill>
                  <a:srgbClr val="536471"/>
                </a:solidFill>
              </a:rPr>
              <a:t>Published pH</a:t>
            </a:r>
          </a:p>
        </p:txBody>
      </p:sp>
      <p:sp>
        <p:nvSpPr>
          <p:cNvPr id="31" name="value-2-1">
            <a:extLst xmlns:a="http://schemas.openxmlformats.org/drawingml/2006/main">
              <a:ext uri="{FF2B5EF4-FFF2-40B4-BE49-F238E27FC236}">
                <a16:creationId xmlns:a16="http://schemas.microsoft.com/office/drawing/2014/main" id="{C14A6EE7-0E01-45F6-8254-A7F978EB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623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2212B"/>
                </a:solidFill>
              </a:defRPr>
            </a:pPr>
            <a:r>
              <a:rPr sz="1200" b="1">
                <a:solidFill>
                  <a:srgbClr val="12212B"/>
                </a:solidFill>
              </a:rPr>
              <a:t>3.0–11.0+</a:t>
            </a:r>
          </a:p>
        </p:txBody>
      </p:sp>
      <p:sp>
        <p:nvSpPr>
          <p:cNvPr id="32" name="label-2-2">
            <a:extLst xmlns:a="http://schemas.openxmlformats.org/drawingml/2006/main">
              <a:ext uri="{FF2B5EF4-FFF2-40B4-BE49-F238E27FC236}">
                <a16:creationId xmlns:a16="http://schemas.microsoft.com/office/drawing/2014/main" id="{B12365B2-0F58-49F6-B811-E791F970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719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471"/>
                </a:solidFill>
              </a:defRPr>
            </a:pPr>
            <a:r>
              <a:rPr sz="975">
                <a:solidFill>
                  <a:srgbClr val="536471"/>
                </a:solidFill>
              </a:rPr>
              <a:t>ORP estimate</a:t>
            </a:r>
          </a:p>
        </p:txBody>
      </p:sp>
      <p:sp>
        <p:nvSpPr>
          <p:cNvPr id="33" name="value-2-2">
            <a:extLst xmlns:a="http://schemas.openxmlformats.org/drawingml/2006/main">
              <a:ext uri="{FF2B5EF4-FFF2-40B4-BE49-F238E27FC236}">
                <a16:creationId xmlns:a16="http://schemas.microsoft.com/office/drawing/2014/main" id="{255AB88F-D117-4A7E-9EBA-CC677F11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529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2212B"/>
                </a:solidFill>
              </a:defRPr>
            </a:pPr>
            <a:r>
              <a:rPr sz="1200" b="1">
                <a:solidFill>
                  <a:srgbClr val="12212B"/>
                </a:solidFill>
              </a:rPr>
              <a:t>Up to −850 mV</a:t>
            </a:r>
          </a:p>
        </p:txBody>
      </p:sp>
      <p:sp>
        <p:nvSpPr>
          <p:cNvPr id="34" name="label-2-3">
            <a:extLst xmlns:a="http://schemas.openxmlformats.org/drawingml/2006/main">
              <a:ext uri="{FF2B5EF4-FFF2-40B4-BE49-F238E27FC236}">
                <a16:creationId xmlns:a16="http://schemas.microsoft.com/office/drawing/2014/main" id="{C2560BDE-F72D-4184-BE49-26102DF1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625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471"/>
                </a:solidFill>
              </a:defRPr>
            </a:pPr>
            <a:r>
              <a:rPr sz="975">
                <a:solidFill>
                  <a:srgbClr val="536471"/>
                </a:solidFill>
              </a:rPr>
              <a:t>Hydrogen H₂</a:t>
            </a:r>
          </a:p>
        </p:txBody>
      </p:sp>
      <p:sp>
        <p:nvSpPr>
          <p:cNvPr id="35" name="value-2-3">
            <a:extLst xmlns:a="http://schemas.openxmlformats.org/drawingml/2006/main">
              <a:ext uri="{FF2B5EF4-FFF2-40B4-BE49-F238E27FC236}">
                <a16:creationId xmlns:a16="http://schemas.microsoft.com/office/drawing/2014/main" id="{E40B368A-8F24-4AF0-B260-056A5A3D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434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2212B"/>
                </a:solidFill>
              </a:defRPr>
            </a:pPr>
            <a:r>
              <a:rPr sz="1200" b="1">
                <a:solidFill>
                  <a:srgbClr val="12212B"/>
                </a:solidFill>
              </a:rPr>
              <a:t>Up to 1,800 ppb</a:t>
            </a:r>
          </a:p>
        </p:txBody>
      </p:sp>
      <p:sp>
        <p:nvSpPr>
          <p:cNvPr id="36" name="variation-note">
            <a:extLst xmlns:a="http://schemas.openxmlformats.org/drawingml/2006/main">
              <a:ext uri="{FF2B5EF4-FFF2-40B4-BE49-F238E27FC236}">
                <a16:creationId xmlns:a16="http://schemas.microsoft.com/office/drawing/2014/main" id="{134BE19A-B88F-4722-9D56-1106EEE2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986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471"/>
                </a:solidFill>
              </a:defRPr>
            </a:pPr>
            <a:r>
              <a:rPr sz="975">
                <a:solidFill>
                  <a:srgbClr val="536471"/>
                </a:solidFill>
              </a:rPr>
              <a:t>Actual pH, ORP and dissolved hydrogen vary with source water, mineral content, temperature, flow rate and calibration.</a:t>
            </a:r>
          </a:p>
        </p:txBody>
      </p:sp>
      <p:sp>
        <p:nvSpPr>
          <p:cNvPr id="37" name="footer-4">
            <a:extLst xmlns:a="http://schemas.openxmlformats.org/drawingml/2006/main">
              <a:ext uri="{FF2B5EF4-FFF2-40B4-BE49-F238E27FC236}">
                <a16:creationId xmlns:a16="http://schemas.microsoft.com/office/drawing/2014/main" id="{EBA6E781-C085-4D57-B913-A2CFBD92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A96"/>
                </a:solidFill>
              </a:defRPr>
            </a:pPr>
            <a:r>
              <a:rPr sz="750">
                <a:solidFill>
                  <a:srgbClr val="7A8A96"/>
                </a:solidFill>
              </a:rPr>
              <a:t>WELLWA LIFE  •  BUSINESS OPPORTUNITY OVERVIEW                                   04</a:t>
            </a:r>
          </a:p>
        </p:txBody>
      </p:sp>
    </p:spTree>
    <p:extLst>
      <p:ext uri="{BB962C8B-B14F-4D97-AF65-F5344CB8AC3E}">
        <p14:creationId xmlns:p14="http://schemas.microsoft.com/office/powerpoint/2010/main" val="10757758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B864D21C-1B16-47DD-B1FE-6F0D74E9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DDDD3"/>
                </a:solidFill>
              </a:defRPr>
            </a:pPr>
            <a:r>
              <a:rPr sz="1050" b="1">
                <a:solidFill>
                  <a:srgbClr val="8DDDD3"/>
                </a:solidFill>
              </a:rPr>
              <a:t>TECHNOLOGY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95B997-9580-4F29-99CB-425E8453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Connected care extends the relationship after installation</a:t>
            </a:r>
          </a:p>
        </p:txBody>
      </p:sp>
      <p:sp>
        <p:nvSpPr>
          <p:cNvPr id="3" name="feature-0">
            <a:extLst xmlns:a="http://schemas.openxmlformats.org/drawingml/2006/main">
              <a:ext uri="{FF2B5EF4-FFF2-40B4-BE49-F238E27FC236}">
                <a16:creationId xmlns:a16="http://schemas.microsoft.com/office/drawing/2014/main" id="{A77CB374-4C9D-4E41-A8AA-689DD460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048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0E9E90"/>
          </a:solidFill>
          <a:ln xmlns:a="http://schemas.openxmlformats.org/drawingml/2006/main" w="9525">
            <a:solidFill>
              <a:srgbClr val="0E9E90"/>
            </a:solidFill>
            <a:prstDash val="solid"/>
          </a:ln>
        </p:spPr>
      </p:sp>
      <p:sp>
        <p:nvSpPr>
          <p:cNvPr id="4" name="feature-num-0">
            <a:extLst xmlns:a="http://schemas.openxmlformats.org/drawingml/2006/main">
              <a:ext uri="{FF2B5EF4-FFF2-40B4-BE49-F238E27FC236}">
                <a16:creationId xmlns:a16="http://schemas.microsoft.com/office/drawing/2014/main" id="{5CAA1224-37E0-492F-8D7A-C23A2BB9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954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feature-head-0">
            <a:extLst xmlns:a="http://schemas.openxmlformats.org/drawingml/2006/main">
              <a:ext uri="{FF2B5EF4-FFF2-40B4-BE49-F238E27FC236}">
                <a16:creationId xmlns:a16="http://schemas.microsoft.com/office/drawing/2014/main" id="{D263F7F1-EDCC-41E9-8EB9-9B042F0B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145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Remote controls</a:t>
            </a:r>
          </a:p>
        </p:txBody>
      </p:sp>
      <p:sp>
        <p:nvSpPr>
          <p:cNvPr id="6" name="feature-body-0">
            <a:extLst xmlns:a="http://schemas.openxmlformats.org/drawingml/2006/main">
              <a:ext uri="{FF2B5EF4-FFF2-40B4-BE49-F238E27FC236}">
                <a16:creationId xmlns:a16="http://schemas.microsoft.com/office/drawing/2014/main" id="{C9C65CC6-D4B7-4305-9D6A-F13D77F6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812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4FFFB"/>
                </a:solidFill>
              </a:defRPr>
            </a:pPr>
            <a:r>
              <a:rPr sz="1275">
                <a:solidFill>
                  <a:srgbClr val="E4FFFB"/>
                </a:solidFill>
              </a:rPr>
              <a:t>Start, stop and choose supported water modes.</a:t>
            </a:r>
          </a:p>
        </p:txBody>
      </p:sp>
      <p:sp>
        <p:nvSpPr>
          <p:cNvPr id="7" name="feature-1">
            <a:extLst xmlns:a="http://schemas.openxmlformats.org/drawingml/2006/main">
              <a:ext uri="{FF2B5EF4-FFF2-40B4-BE49-F238E27FC236}">
                <a16:creationId xmlns:a16="http://schemas.microsoft.com/office/drawing/2014/main" id="{B2F6E166-F15E-45FB-B52E-4C8F32A4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66875"/>
            <a:ext cx="5048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73B58"/>
          </a:solidFill>
          <a:ln xmlns:a="http://schemas.openxmlformats.org/drawingml/2006/main" w="9525">
            <a:solidFill>
              <a:srgbClr val="2F5068"/>
            </a:solidFill>
            <a:prstDash val="solid"/>
          </a:ln>
        </p:spPr>
      </p:sp>
      <p:sp>
        <p:nvSpPr>
          <p:cNvPr id="8" name="feature-num-1">
            <a:extLst xmlns:a="http://schemas.openxmlformats.org/drawingml/2006/main">
              <a:ext uri="{FF2B5EF4-FFF2-40B4-BE49-F238E27FC236}">
                <a16:creationId xmlns:a16="http://schemas.microsoft.com/office/drawing/2014/main" id="{CF17117B-1470-460B-86EA-1034D180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954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2D9D0"/>
                </a:solidFill>
              </a:defRPr>
            </a:pPr>
            <a:r>
              <a:rPr sz="1350" b="1">
                <a:solidFill>
                  <a:srgbClr val="82D9D0"/>
                </a:solidFill>
              </a:rPr>
              <a:t>02</a:t>
            </a:r>
          </a:p>
        </p:txBody>
      </p:sp>
      <p:sp>
        <p:nvSpPr>
          <p:cNvPr id="9" name="feature-head-1">
            <a:extLst xmlns:a="http://schemas.openxmlformats.org/drawingml/2006/main">
              <a:ext uri="{FF2B5EF4-FFF2-40B4-BE49-F238E27FC236}">
                <a16:creationId xmlns:a16="http://schemas.microsoft.com/office/drawing/2014/main" id="{656B404D-276B-42DD-A06B-EAA7066A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145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Live machine health</a:t>
            </a:r>
          </a:p>
        </p:txBody>
      </p:sp>
      <p:sp>
        <p:nvSpPr>
          <p:cNvPr id="10" name="feature-body-1">
            <a:extLst xmlns:a="http://schemas.openxmlformats.org/drawingml/2006/main">
              <a:ext uri="{FF2B5EF4-FFF2-40B4-BE49-F238E27FC236}">
                <a16:creationId xmlns:a16="http://schemas.microsoft.com/office/drawing/2014/main" id="{2F3F068F-F6AD-44A2-B2C4-DA3A8E84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812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BD9E2"/>
                </a:solidFill>
              </a:defRPr>
            </a:pPr>
            <a:r>
              <a:rPr sz="1275">
                <a:solidFill>
                  <a:srgbClr val="CBD9E2"/>
                </a:solidFill>
              </a:rPr>
              <a:t>Connection, operating state and care alerts.</a:t>
            </a:r>
          </a:p>
        </p:txBody>
      </p:sp>
      <p:sp>
        <p:nvSpPr>
          <p:cNvPr id="11" name="feature-2">
            <a:extLst xmlns:a="http://schemas.openxmlformats.org/drawingml/2006/main">
              <a:ext uri="{FF2B5EF4-FFF2-40B4-BE49-F238E27FC236}">
                <a16:creationId xmlns:a16="http://schemas.microsoft.com/office/drawing/2014/main" id="{E4B48440-531F-43FC-BC53-5A64C807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048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73B58"/>
          </a:solidFill>
          <a:ln xmlns:a="http://schemas.openxmlformats.org/drawingml/2006/main" w="9525">
            <a:solidFill>
              <a:srgbClr val="2F5068"/>
            </a:solidFill>
            <a:prstDash val="solid"/>
          </a:ln>
        </p:spPr>
      </p:sp>
      <p:sp>
        <p:nvSpPr>
          <p:cNvPr id="12" name="feature-num-2">
            <a:extLst xmlns:a="http://schemas.openxmlformats.org/drawingml/2006/main">
              <a:ext uri="{FF2B5EF4-FFF2-40B4-BE49-F238E27FC236}">
                <a16:creationId xmlns:a16="http://schemas.microsoft.com/office/drawing/2014/main" id="{8147D9D7-5FAF-4579-B19A-00FCF10B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2D9D0"/>
                </a:solidFill>
              </a:defRPr>
            </a:pPr>
            <a:r>
              <a:rPr sz="1350" b="1">
                <a:solidFill>
                  <a:srgbClr val="82D9D0"/>
                </a:solidFill>
              </a:rPr>
              <a:t>03</a:t>
            </a:r>
          </a:p>
        </p:txBody>
      </p:sp>
      <p:sp>
        <p:nvSpPr>
          <p:cNvPr id="13" name="feature-head-2">
            <a:extLst xmlns:a="http://schemas.openxmlformats.org/drawingml/2006/main">
              <a:ext uri="{FF2B5EF4-FFF2-40B4-BE49-F238E27FC236}">
                <a16:creationId xmlns:a16="http://schemas.microsoft.com/office/drawing/2014/main" id="{E006863B-3F03-4070-B4D5-44B47E6B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671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Remote diagnostics</a:t>
            </a:r>
          </a:p>
        </p:txBody>
      </p:sp>
      <p:sp>
        <p:nvSpPr>
          <p:cNvPr id="14" name="feature-body-2">
            <a:extLst xmlns:a="http://schemas.openxmlformats.org/drawingml/2006/main">
              <a:ext uri="{FF2B5EF4-FFF2-40B4-BE49-F238E27FC236}">
                <a16:creationId xmlns:a16="http://schemas.microsoft.com/office/drawing/2014/main" id="{AFF16032-99E6-41E7-84F3-009B9D5B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338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BD9E2"/>
                </a:solidFill>
              </a:defRPr>
            </a:pPr>
            <a:r>
              <a:rPr sz="1275">
                <a:solidFill>
                  <a:srgbClr val="CBD9E2"/>
                </a:solidFill>
              </a:rPr>
              <a:t>Service teams can review supported telemetry.</a:t>
            </a:r>
          </a:p>
        </p:txBody>
      </p:sp>
      <p:sp>
        <p:nvSpPr>
          <p:cNvPr id="15" name="feature-3">
            <a:extLst xmlns:a="http://schemas.openxmlformats.org/drawingml/2006/main">
              <a:ext uri="{FF2B5EF4-FFF2-40B4-BE49-F238E27FC236}">
                <a16:creationId xmlns:a16="http://schemas.microsoft.com/office/drawing/2014/main" id="{8B5E62A8-3993-4924-90D4-54C013AC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5048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73B58"/>
          </a:solidFill>
          <a:ln xmlns:a="http://schemas.openxmlformats.org/drawingml/2006/main" w="9525">
            <a:solidFill>
              <a:srgbClr val="2F5068"/>
            </a:solidFill>
            <a:prstDash val="solid"/>
          </a:ln>
        </p:spPr>
      </p:sp>
      <p:sp>
        <p:nvSpPr>
          <p:cNvPr id="16" name="feature-num-3">
            <a:extLst xmlns:a="http://schemas.openxmlformats.org/drawingml/2006/main">
              <a:ext uri="{FF2B5EF4-FFF2-40B4-BE49-F238E27FC236}">
                <a16:creationId xmlns:a16="http://schemas.microsoft.com/office/drawing/2014/main" id="{A8EF2172-AD59-4635-91A3-B26732CA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2D9D0"/>
                </a:solidFill>
              </a:defRPr>
            </a:pPr>
            <a:r>
              <a:rPr sz="1350" b="1">
                <a:solidFill>
                  <a:srgbClr val="82D9D0"/>
                </a:solidFill>
              </a:rPr>
              <a:t>04</a:t>
            </a:r>
          </a:p>
        </p:txBody>
      </p:sp>
      <p:sp>
        <p:nvSpPr>
          <p:cNvPr id="17" name="feature-head-3">
            <a:extLst xmlns:a="http://schemas.openxmlformats.org/drawingml/2006/main">
              <a:ext uri="{FF2B5EF4-FFF2-40B4-BE49-F238E27FC236}">
                <a16:creationId xmlns:a16="http://schemas.microsoft.com/office/drawing/2014/main" id="{30701E5D-3B01-4742-99C7-B745DFC9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671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OTA-ready updates</a:t>
            </a:r>
          </a:p>
        </p:txBody>
      </p:sp>
      <p:sp>
        <p:nvSpPr>
          <p:cNvPr id="18" name="feature-body-3">
            <a:extLst xmlns:a="http://schemas.openxmlformats.org/drawingml/2006/main">
              <a:ext uri="{FF2B5EF4-FFF2-40B4-BE49-F238E27FC236}">
                <a16:creationId xmlns:a16="http://schemas.microsoft.com/office/drawing/2014/main" id="{605E7001-B4FA-427F-8FEE-D3FA7429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338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BD9E2"/>
                </a:solidFill>
              </a:defRPr>
            </a:pPr>
            <a:r>
              <a:rPr sz="1275">
                <a:solidFill>
                  <a:srgbClr val="CBD9E2"/>
                </a:solidFill>
              </a:rPr>
              <a:t>Supported firmware can be maintained remotely.</a:t>
            </a:r>
          </a:p>
        </p:txBody>
      </p:sp>
      <p:sp>
        <p:nvSpPr>
          <p:cNvPr id="19" name="wifi-note">
            <a:extLst xmlns:a="http://schemas.openxmlformats.org/drawingml/2006/main">
              <a:ext uri="{FF2B5EF4-FFF2-40B4-BE49-F238E27FC236}">
                <a16:creationId xmlns:a16="http://schemas.microsoft.com/office/drawing/2014/main" id="{D61C841B-0D18-4C65-9994-66467D01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FC4CE"/>
                </a:solidFill>
              </a:defRPr>
            </a:pPr>
            <a:r>
              <a:rPr sz="1050">
                <a:solidFill>
                  <a:srgbClr val="AFC4CE"/>
                </a:solidFill>
              </a:rPr>
              <a:t>Guided setup uses a compatible 2.4 GHz Wi‑Fi network. The machine’s water function and supported app features should be explained separately.</a:t>
            </a:r>
          </a:p>
        </p:txBody>
      </p:sp>
      <p:sp>
        <p:nvSpPr>
          <p:cNvPr id="20" name="footer-5">
            <a:extLst xmlns:a="http://schemas.openxmlformats.org/drawingml/2006/main">
              <a:ext uri="{FF2B5EF4-FFF2-40B4-BE49-F238E27FC236}">
                <a16:creationId xmlns:a16="http://schemas.microsoft.com/office/drawing/2014/main" id="{E161D9D9-805D-47F9-803F-0547DCCE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A96"/>
                </a:solidFill>
              </a:defRPr>
            </a:pPr>
            <a:r>
              <a:rPr sz="750">
                <a:solidFill>
                  <a:srgbClr val="7A8A96"/>
                </a:solidFill>
              </a:rPr>
              <a:t>WELLWA LIFE  •  BUSINESS OPPORTUNITY OVERVIEW                                   05</a:t>
            </a:r>
          </a:p>
        </p:txBody>
      </p:sp>
    </p:spTree>
    <p:extLst>
      <p:ext uri="{BB962C8B-B14F-4D97-AF65-F5344CB8AC3E}">
        <p14:creationId xmlns:p14="http://schemas.microsoft.com/office/powerpoint/2010/main" val="1533756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B8310A61-30C2-49CE-ABC6-593EC084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66D"/>
                </a:solidFill>
              </a:defRPr>
            </a:pPr>
            <a:r>
              <a:rPr sz="1050" b="1">
                <a:solidFill>
                  <a:srgbClr val="08766D"/>
                </a:solidFill>
              </a:rPr>
              <a:t>CUSTOMER EXPERIENCE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9ADCBE-736D-4FF8-8ADF-868125C4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A clear ownership journey builds trust</a:t>
            </a:r>
          </a:p>
        </p:txBody>
      </p:sp>
      <p:sp>
        <p:nvSpPr>
          <p:cNvPr id="3" name="journey-line">
            <a:extLst xmlns:a="http://schemas.openxmlformats.org/drawingml/2006/main">
              <a:ext uri="{FF2B5EF4-FFF2-40B4-BE49-F238E27FC236}">
                <a16:creationId xmlns:a16="http://schemas.microsoft.com/office/drawing/2014/main" id="{9D65C923-CD4F-46F1-A5AC-A5D67A15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2895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E3E7"/>
            </a:solidFill>
            <a:prstDash val="solid"/>
          </a:ln>
        </p:spPr>
      </p:sp>
      <p:sp>
        <p:nvSpPr>
          <p:cNvPr id="4" name="step-dot-0">
            <a:extLst xmlns:a="http://schemas.openxmlformats.org/drawingml/2006/main">
              <a:ext uri="{FF2B5EF4-FFF2-40B4-BE49-F238E27FC236}">
                <a16:creationId xmlns:a16="http://schemas.microsoft.com/office/drawing/2014/main" id="{48D2E6C2-8C8D-41EA-BA01-EDFA55FF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908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571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step-head-0">
            <a:extLst xmlns:a="http://schemas.openxmlformats.org/drawingml/2006/main">
              <a:ext uri="{FF2B5EF4-FFF2-40B4-BE49-F238E27FC236}">
                <a16:creationId xmlns:a16="http://schemas.microsoft.com/office/drawing/2014/main" id="{D34EA1A8-3351-479D-8EC6-B447F9D5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Water review</a:t>
            </a:r>
          </a:p>
        </p:txBody>
      </p:sp>
      <p:sp>
        <p:nvSpPr>
          <p:cNvPr id="6" name="step-body-0">
            <a:extLst xmlns:a="http://schemas.openxmlformats.org/drawingml/2006/main">
              <a:ext uri="{FF2B5EF4-FFF2-40B4-BE49-F238E27FC236}">
                <a16:creationId xmlns:a16="http://schemas.microsoft.com/office/drawing/2014/main" id="{76119CDE-BE4B-4228-B14B-986E7240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171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471"/>
                </a:solidFill>
              </a:defRPr>
            </a:pPr>
            <a:r>
              <a:rPr sz="1200">
                <a:solidFill>
                  <a:srgbClr val="536471"/>
                </a:solidFill>
              </a:rPr>
              <a:t>Source, usage and compatibility</a:t>
            </a:r>
          </a:p>
        </p:txBody>
      </p:sp>
      <p:sp>
        <p:nvSpPr>
          <p:cNvPr id="7" name="step-dot-1">
            <a:extLst xmlns:a="http://schemas.openxmlformats.org/drawingml/2006/main">
              <a:ext uri="{FF2B5EF4-FFF2-40B4-BE49-F238E27FC236}">
                <a16:creationId xmlns:a16="http://schemas.microsoft.com/office/drawing/2014/main" id="{FBDA0D54-100D-45B9-9825-FA02D0C6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908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571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step-head-1">
            <a:extLst xmlns:a="http://schemas.openxmlformats.org/drawingml/2006/main">
              <a:ext uri="{FF2B5EF4-FFF2-40B4-BE49-F238E27FC236}">
                <a16:creationId xmlns:a16="http://schemas.microsoft.com/office/drawing/2014/main" id="{169099DE-5F3C-45A4-8AB8-87FA9DA7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909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Model consultation</a:t>
            </a:r>
          </a:p>
        </p:txBody>
      </p:sp>
      <p:sp>
        <p:nvSpPr>
          <p:cNvPr id="9" name="step-body-1">
            <a:extLst xmlns:a="http://schemas.openxmlformats.org/drawingml/2006/main">
              <a:ext uri="{FF2B5EF4-FFF2-40B4-BE49-F238E27FC236}">
                <a16:creationId xmlns:a16="http://schemas.microsoft.com/office/drawing/2014/main" id="{38F22246-AD7F-4EBC-A4F7-5CF8EE7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29100"/>
            <a:ext cx="2171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471"/>
                </a:solidFill>
              </a:defRPr>
            </a:pPr>
            <a:r>
              <a:rPr sz="1200">
                <a:solidFill>
                  <a:srgbClr val="536471"/>
                </a:solidFill>
              </a:rPr>
              <a:t>Compare the Aura range</a:t>
            </a:r>
          </a:p>
        </p:txBody>
      </p:sp>
      <p:sp>
        <p:nvSpPr>
          <p:cNvPr id="10" name="step-dot-2">
            <a:extLst xmlns:a="http://schemas.openxmlformats.org/drawingml/2006/main">
              <a:ext uri="{FF2B5EF4-FFF2-40B4-BE49-F238E27FC236}">
                <a16:creationId xmlns:a16="http://schemas.microsoft.com/office/drawing/2014/main" id="{43A835F2-8102-494E-8039-1F18AC1A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908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571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" name="step-head-2">
            <a:extLst xmlns:a="http://schemas.openxmlformats.org/drawingml/2006/main">
              <a:ext uri="{FF2B5EF4-FFF2-40B4-BE49-F238E27FC236}">
                <a16:creationId xmlns:a16="http://schemas.microsoft.com/office/drawing/2014/main" id="{48142A26-7F4B-4453-A4D2-073AC8F3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Installation</a:t>
            </a:r>
          </a:p>
        </p:txBody>
      </p:sp>
      <p:sp>
        <p:nvSpPr>
          <p:cNvPr id="1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55B92925-6F0A-4BCB-90C0-B8F4AA46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29100"/>
            <a:ext cx="2171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471"/>
                </a:solidFill>
              </a:defRPr>
            </a:pPr>
            <a:r>
              <a:rPr sz="1200">
                <a:solidFill>
                  <a:srgbClr val="536471"/>
                </a:solidFill>
              </a:rPr>
              <a:t>Plumbing, setup and handover</a:t>
            </a:r>
          </a:p>
        </p:txBody>
      </p:sp>
      <p:sp>
        <p:nvSpPr>
          <p:cNvPr id="13" name="step-dot-3">
            <a:extLst xmlns:a="http://schemas.openxmlformats.org/drawingml/2006/main">
              <a:ext uri="{FF2B5EF4-FFF2-40B4-BE49-F238E27FC236}">
                <a16:creationId xmlns:a16="http://schemas.microsoft.com/office/drawing/2014/main" id="{7D9CC4D2-C9CD-49B3-A7D7-7A968844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908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E90"/>
          </a:solidFill>
          <a:ln xmlns:a="http://schemas.openxmlformats.org/drawingml/2006/main" w="571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4" name="step-head-3">
            <a:extLst xmlns:a="http://schemas.openxmlformats.org/drawingml/2006/main">
              <a:ext uri="{FF2B5EF4-FFF2-40B4-BE49-F238E27FC236}">
                <a16:creationId xmlns:a16="http://schemas.microsoft.com/office/drawing/2014/main" id="{55B2422F-0E69-4B72-BF83-1BE0698E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909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Connected care</a:t>
            </a:r>
          </a:p>
        </p:txBody>
      </p:sp>
      <p:sp>
        <p:nvSpPr>
          <p:cNvPr id="1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C8AFB394-3965-4AE0-AFD4-A559AEEE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29100"/>
            <a:ext cx="2171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471"/>
                </a:solidFill>
              </a:defRPr>
            </a:pPr>
            <a:r>
              <a:rPr sz="1200">
                <a:solidFill>
                  <a:srgbClr val="536471"/>
                </a:solidFill>
              </a:rPr>
              <a:t>App pairing, alerts and support</a:t>
            </a:r>
          </a:p>
        </p:txBody>
      </p:sp>
      <p:sp>
        <p:nvSpPr>
          <p:cNvPr id="16" name="journey-callout">
            <a:extLst xmlns:a="http://schemas.openxmlformats.org/drawingml/2006/main">
              <a:ext uri="{FF2B5EF4-FFF2-40B4-BE49-F238E27FC236}">
                <a16:creationId xmlns:a16="http://schemas.microsoft.com/office/drawing/2014/main" id="{58C9AA4F-C7C2-45C2-985C-E72DFBD4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00650"/>
            <a:ext cx="8286750" cy="72390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journey-callout-text">
            <a:extLst xmlns:a="http://schemas.openxmlformats.org/drawingml/2006/main">
              <a:ext uri="{FF2B5EF4-FFF2-40B4-BE49-F238E27FC236}">
                <a16:creationId xmlns:a16="http://schemas.microsoft.com/office/drawing/2014/main" id="{1F29250A-FFA6-4683-AF2D-8C9167EC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911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66D"/>
                </a:solidFill>
              </a:defRPr>
            </a:pPr>
            <a:r>
              <a:rPr sz="1350" b="1">
                <a:solidFill>
                  <a:srgbClr val="08766D"/>
                </a:solidFill>
              </a:rPr>
              <a:t>The distributor owns the education and follow-up; trained service teams own technical installation and diagnostics.</a:t>
            </a:r>
          </a:p>
        </p:txBody>
      </p:sp>
      <p:sp>
        <p:nvSpPr>
          <p:cNvPr id="18" name="footer-6">
            <a:extLst xmlns:a="http://schemas.openxmlformats.org/drawingml/2006/main">
              <a:ext uri="{FF2B5EF4-FFF2-40B4-BE49-F238E27FC236}">
                <a16:creationId xmlns:a16="http://schemas.microsoft.com/office/drawing/2014/main" id="{020A2050-F261-4241-A104-D73BA2C7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A96"/>
                </a:solidFill>
              </a:defRPr>
            </a:pPr>
            <a:r>
              <a:rPr sz="750">
                <a:solidFill>
                  <a:srgbClr val="7A8A96"/>
                </a:solidFill>
              </a:rPr>
              <a:t>WELLWA LIFE  •  BUSINESS OPPORTUNITY OVERVIEW                                   06</a:t>
            </a:r>
          </a:p>
        </p:txBody>
      </p:sp>
    </p:spTree>
    <p:extLst>
      <p:ext uri="{BB962C8B-B14F-4D97-AF65-F5344CB8AC3E}">
        <p14:creationId xmlns:p14="http://schemas.microsoft.com/office/powerpoint/2010/main" val="20200026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6C9AE7C5-C350-4734-A8BC-851AA72D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66D"/>
                </a:solidFill>
              </a:defRPr>
            </a:pPr>
            <a:r>
              <a:rPr sz="1050" b="1">
                <a:solidFill>
                  <a:srgbClr val="08766D"/>
                </a:solidFill>
              </a:rPr>
              <a:t>BUSINESS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5BB2A0-CD85-4CE7-B842-6DFBF8EB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The distributor role is local, practical and relationship-led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32eeb0e264494"/>
          <a:srcRect xmlns:a="http://schemas.openxmlformats.org/drawingml/2006/main" l="12140" t="0" r="121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04950"/>
            <a:ext cx="5715000" cy="4248150"/>
          </a:xfrm>
          <a:prstGeom xmlns:a="http://schemas.openxmlformats.org/drawingml/2006/main" prst="roundRect">
            <a:avLst>
              <a:gd name="adj" fmla="val 4933"/>
            </a:avLst>
          </a:prstGeom>
        </p:spPr>
      </p:pic>
      <p:sp>
        <p:nvSpPr>
          <p:cNvPr id="4" name="role-head-0">
            <a:extLst xmlns:a="http://schemas.openxmlformats.org/drawingml/2006/main">
              <a:ext uri="{FF2B5EF4-FFF2-40B4-BE49-F238E27FC236}">
                <a16:creationId xmlns:a16="http://schemas.microsoft.com/office/drawing/2014/main" id="{886299A8-4EB4-43FF-AC83-7C162B5B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62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Educate</a:t>
            </a:r>
          </a:p>
        </p:txBody>
      </p:sp>
      <p:sp>
        <p:nvSpPr>
          <p:cNvPr id="5" name="role-body-0">
            <a:extLst xmlns:a="http://schemas.openxmlformats.org/drawingml/2006/main">
              <a:ext uri="{FF2B5EF4-FFF2-40B4-BE49-F238E27FC236}">
                <a16:creationId xmlns:a16="http://schemas.microsoft.com/office/drawing/2014/main" id="{B4935FB7-013C-4445-97FD-CF69BC55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6210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471"/>
                </a:solidFill>
              </a:defRPr>
            </a:pPr>
            <a:r>
              <a:rPr sz="1200">
                <a:solidFill>
                  <a:srgbClr val="536471"/>
                </a:solidFill>
              </a:rPr>
              <a:t>Explain the product, water compatibility and connected features accurately.</a:t>
            </a:r>
          </a:p>
        </p:txBody>
      </p:sp>
      <p:sp>
        <p:nvSpPr>
          <p:cNvPr id="6" name="role-head-1">
            <a:extLst xmlns:a="http://schemas.openxmlformats.org/drawingml/2006/main">
              <a:ext uri="{FF2B5EF4-FFF2-40B4-BE49-F238E27FC236}">
                <a16:creationId xmlns:a16="http://schemas.microsoft.com/office/drawing/2014/main" id="{772E67B7-3C0C-4561-A493-43257546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90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Demonstrate</a:t>
            </a:r>
          </a:p>
        </p:txBody>
      </p:sp>
      <p:sp>
        <p:nvSpPr>
          <p:cNvPr id="7" name="role-body-1">
            <a:extLst xmlns:a="http://schemas.openxmlformats.org/drawingml/2006/main">
              <a:ext uri="{FF2B5EF4-FFF2-40B4-BE49-F238E27FC236}">
                <a16:creationId xmlns:a16="http://schemas.microsoft.com/office/drawing/2014/main" id="{6DAE740F-E67A-4513-8B35-F23F97D6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9080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471"/>
                </a:solidFill>
              </a:defRPr>
            </a:pPr>
            <a:r>
              <a:rPr sz="1200">
                <a:solidFill>
                  <a:srgbClr val="536471"/>
                </a:solidFill>
              </a:rPr>
              <a:t>Arrange consultations and product demonstrations where available.</a:t>
            </a:r>
          </a:p>
        </p:txBody>
      </p:sp>
      <p:sp>
        <p:nvSpPr>
          <p:cNvPr id="8" name="role-head-2">
            <a:extLst xmlns:a="http://schemas.openxmlformats.org/drawingml/2006/main">
              <a:ext uri="{FF2B5EF4-FFF2-40B4-BE49-F238E27FC236}">
                <a16:creationId xmlns:a16="http://schemas.microsoft.com/office/drawing/2014/main" id="{25B7FEA1-21E0-47F5-8DD3-2D46ED72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19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Convert</a:t>
            </a:r>
          </a:p>
        </p:txBody>
      </p:sp>
      <p:sp>
        <p:nvSpPr>
          <p:cNvPr id="9" name="role-body-2">
            <a:extLst xmlns:a="http://schemas.openxmlformats.org/drawingml/2006/main">
              <a:ext uri="{FF2B5EF4-FFF2-40B4-BE49-F238E27FC236}">
                <a16:creationId xmlns:a16="http://schemas.microsoft.com/office/drawing/2014/main" id="{C31F277E-3C84-4B00-825A-A56B405A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471"/>
                </a:solidFill>
              </a:defRPr>
            </a:pPr>
            <a:r>
              <a:rPr sz="1200">
                <a:solidFill>
                  <a:srgbClr val="536471"/>
                </a:solidFill>
              </a:rPr>
              <a:t>Help the household select a model and complete the official buying process.</a:t>
            </a:r>
          </a:p>
        </p:txBody>
      </p:sp>
      <p:sp>
        <p:nvSpPr>
          <p:cNvPr id="10" name="role-head-3">
            <a:extLst xmlns:a="http://schemas.openxmlformats.org/drawingml/2006/main">
              <a:ext uri="{FF2B5EF4-FFF2-40B4-BE49-F238E27FC236}">
                <a16:creationId xmlns:a16="http://schemas.microsoft.com/office/drawing/2014/main" id="{3D9F5878-B6E7-4980-A5E1-E68EAF90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48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Follow up</a:t>
            </a:r>
          </a:p>
        </p:txBody>
      </p:sp>
      <p:sp>
        <p:nvSpPr>
          <p:cNvPr id="11" name="role-body-3">
            <a:extLst xmlns:a="http://schemas.openxmlformats.org/drawingml/2006/main">
              <a:ext uri="{FF2B5EF4-FFF2-40B4-BE49-F238E27FC236}">
                <a16:creationId xmlns:a16="http://schemas.microsoft.com/office/drawing/2014/main" id="{BFCC9D73-C10C-4EAA-A953-DB668856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4820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471"/>
                </a:solidFill>
              </a:defRPr>
            </a:pPr>
            <a:r>
              <a:rPr sz="1200">
                <a:solidFill>
                  <a:srgbClr val="536471"/>
                </a:solidFill>
              </a:rPr>
              <a:t>Support app adoption, care reminders and service escalation.</a:t>
            </a:r>
          </a:p>
        </p:txBody>
      </p:sp>
      <p:sp>
        <p:nvSpPr>
          <p:cNvPr id="12" name="compliance">
            <a:extLst xmlns:a="http://schemas.openxmlformats.org/drawingml/2006/main">
              <a:ext uri="{FF2B5EF4-FFF2-40B4-BE49-F238E27FC236}">
                <a16:creationId xmlns:a16="http://schemas.microsoft.com/office/drawing/2014/main" id="{C20FAC54-535F-4686-B0D3-BE6363E5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676900"/>
            <a:ext cx="43815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</p:sp>
      <p:sp>
        <p:nvSpPr>
          <p:cNvPr id="13" name="compliance-text">
            <a:extLst xmlns:a="http://schemas.openxmlformats.org/drawingml/2006/main">
              <a:ext uri="{FF2B5EF4-FFF2-40B4-BE49-F238E27FC236}">
                <a16:creationId xmlns:a16="http://schemas.microsoft.com/office/drawing/2014/main" id="{D588EDD2-E4C0-42C6-B670-1EBA9103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388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66D"/>
                </a:solidFill>
              </a:defRPr>
            </a:pPr>
            <a:r>
              <a:rPr sz="1050" b="1">
                <a:solidFill>
                  <a:srgbClr val="08766D"/>
                </a:solidFill>
              </a:rPr>
              <a:t>No medical claims • No guaranteed income • Written terms only</a:t>
            </a:r>
          </a:p>
        </p:txBody>
      </p:sp>
      <p:sp>
        <p:nvSpPr>
          <p:cNvPr id="14" name="footer-7">
            <a:extLst xmlns:a="http://schemas.openxmlformats.org/drawingml/2006/main">
              <a:ext uri="{FF2B5EF4-FFF2-40B4-BE49-F238E27FC236}">
                <a16:creationId xmlns:a16="http://schemas.microsoft.com/office/drawing/2014/main" id="{81B15E46-3451-4729-9D15-353D9B49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A96"/>
                </a:solidFill>
              </a:defRPr>
            </a:pPr>
            <a:r>
              <a:rPr sz="750">
                <a:solidFill>
                  <a:srgbClr val="7A8A96"/>
                </a:solidFill>
              </a:rPr>
              <a:t>WELLWA LIFE  •  BUSINESS OPPORTUNITY OVERVIEW                                   07</a:t>
            </a:r>
          </a:p>
        </p:txBody>
      </p:sp>
    </p:spTree>
    <p:extLst>
      <p:ext uri="{BB962C8B-B14F-4D97-AF65-F5344CB8AC3E}">
        <p14:creationId xmlns:p14="http://schemas.microsoft.com/office/powerpoint/2010/main" val="598956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79A532E3-8AA7-4E82-B12D-296FFC77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66D"/>
                </a:solidFill>
              </a:defRPr>
            </a:pPr>
            <a:r>
              <a:rPr sz="1050" b="1">
                <a:solidFill>
                  <a:srgbClr val="08766D"/>
                </a:solidFill>
              </a:rPr>
              <a:t>90-DAY LAUNCH PATH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79A93E-766A-4618-983F-40BA863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Start with capability before scale</a:t>
            </a:r>
          </a:p>
        </p:txBody>
      </p:sp>
      <p:sp>
        <p:nvSpPr>
          <p:cNvPr id="3" name="phase-0">
            <a:extLst xmlns:a="http://schemas.openxmlformats.org/drawingml/2006/main">
              <a:ext uri="{FF2B5EF4-FFF2-40B4-BE49-F238E27FC236}">
                <a16:creationId xmlns:a16="http://schemas.microsoft.com/office/drawing/2014/main" id="{EF10B7FF-6A3A-4AF4-B0CB-86BAC495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52700" cy="3562350"/>
          </a:xfrm>
          <a:prstGeom xmlns:a="http://schemas.openxmlformats.org/drawingml/2006/main" prst="roundRect">
            <a:avLst>
              <a:gd name="adj" fmla="val 820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4" name="phase-time-0">
            <a:extLst xmlns:a="http://schemas.openxmlformats.org/drawingml/2006/main">
              <a:ext uri="{FF2B5EF4-FFF2-40B4-BE49-F238E27FC236}">
                <a16:creationId xmlns:a16="http://schemas.microsoft.com/office/drawing/2014/main" id="{A022625B-3CB0-44AA-99C3-0AC54D7B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DDD3"/>
                </a:solidFill>
              </a:defRPr>
            </a:pPr>
            <a:r>
              <a:rPr sz="900" b="1">
                <a:solidFill>
                  <a:srgbClr val="8DDDD3"/>
                </a:solidFill>
              </a:rPr>
              <a:t>DAYS 1–15</a:t>
            </a:r>
          </a:p>
        </p:txBody>
      </p:sp>
      <p:sp>
        <p:nvSpPr>
          <p:cNvPr id="5" name="phase-name-0">
            <a:extLst xmlns:a="http://schemas.openxmlformats.org/drawingml/2006/main">
              <a:ext uri="{FF2B5EF4-FFF2-40B4-BE49-F238E27FC236}">
                <a16:creationId xmlns:a16="http://schemas.microsoft.com/office/drawing/2014/main" id="{1ED5DE2A-AAFF-4280-B8DA-CB92A849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Learn</a:t>
            </a:r>
          </a:p>
        </p:txBody>
      </p:sp>
      <p:sp>
        <p:nvSpPr>
          <p:cNvPr id="6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8E99BB65-C1CF-4FA3-8027-38DD0165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2057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4E1E7"/>
                </a:solidFill>
              </a:defRPr>
            </a:pPr>
            <a:r>
              <a:rPr sz="1350">
                <a:solidFill>
                  <a:srgbClr val="D4E1E7"/>
                </a:solidFill>
              </a:rPr>
              <a:t>Product range</a:t>
            </a:r>
          </a:p>
          <a:p xmlns:a="http://schemas.openxmlformats.org/drawingml/2006/main">
            <a:pPr>
              <a:defRPr sz="1350">
                <a:solidFill>
                  <a:srgbClr val="D4E1E7"/>
                </a:solidFill>
              </a:defRPr>
            </a:pPr>
            <a:r>
              <a:rPr sz="1350">
                <a:solidFill>
                  <a:srgbClr val="D4E1E7"/>
                </a:solidFill>
              </a:rPr>
              <a:t>Water-source basics</a:t>
            </a:r>
          </a:p>
          <a:p xmlns:a="http://schemas.openxmlformats.org/drawingml/2006/main">
            <a:pPr>
              <a:defRPr sz="1350">
                <a:solidFill>
                  <a:srgbClr val="D4E1E7"/>
                </a:solidFill>
              </a:defRPr>
            </a:pPr>
            <a:r>
              <a:rPr sz="1350">
                <a:solidFill>
                  <a:srgbClr val="D4E1E7"/>
                </a:solidFill>
              </a:rPr>
              <a:t>Claims &amp; compliance</a:t>
            </a:r>
          </a:p>
        </p:txBody>
      </p:sp>
      <p:sp>
        <p:nvSpPr>
          <p:cNvPr id="7" name="phase-1">
            <a:extLst xmlns:a="http://schemas.openxmlformats.org/drawingml/2006/main">
              <a:ext uri="{FF2B5EF4-FFF2-40B4-BE49-F238E27FC236}">
                <a16:creationId xmlns:a16="http://schemas.microsoft.com/office/drawing/2014/main" id="{C42F9574-1766-4671-A3A0-FA8EFBDC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76400"/>
            <a:ext cx="2552700" cy="3562350"/>
          </a:xfrm>
          <a:prstGeom xmlns:a="http://schemas.openxmlformats.org/drawingml/2006/main" prst="roundRect">
            <a:avLst>
              <a:gd name="adj" fmla="val 8209"/>
            </a:avLst>
          </a:prstGeom>
          <a:solidFill xmlns:a="http://schemas.openxmlformats.org/drawingml/2006/main">
            <a:srgbClr val="F8F6F1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</p:sp>
      <p:sp>
        <p:nvSpPr>
          <p:cNvPr id="8" name="phase-time-1">
            <a:extLst xmlns:a="http://schemas.openxmlformats.org/drawingml/2006/main">
              <a:ext uri="{FF2B5EF4-FFF2-40B4-BE49-F238E27FC236}">
                <a16:creationId xmlns:a16="http://schemas.microsoft.com/office/drawing/2014/main" id="{6EFB0E1A-75E1-408E-99F4-5405EAF6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431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7333"/>
                </a:solidFill>
              </a:defRPr>
            </a:pPr>
            <a:r>
              <a:rPr sz="900" b="1">
                <a:solidFill>
                  <a:srgbClr val="B87333"/>
                </a:solidFill>
              </a:rPr>
              <a:t>DAYS 16–30</a:t>
            </a:r>
          </a:p>
        </p:txBody>
      </p:sp>
      <p:sp>
        <p:nvSpPr>
          <p:cNvPr id="9" name="phase-name-1">
            <a:extLst xmlns:a="http://schemas.openxmlformats.org/drawingml/2006/main">
              <a:ext uri="{FF2B5EF4-FFF2-40B4-BE49-F238E27FC236}">
                <a16:creationId xmlns:a16="http://schemas.microsoft.com/office/drawing/2014/main" id="{62062845-0353-4DD8-80DE-4708982E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030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Practice</a:t>
            </a:r>
          </a:p>
        </p:txBody>
      </p:sp>
      <p:sp>
        <p:nvSpPr>
          <p:cNvPr id="10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6B732732-2BB5-4884-922A-DAAC9E2C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2057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471"/>
                </a:solidFill>
              </a:defRPr>
            </a:pPr>
            <a:r>
              <a:rPr sz="1350">
                <a:solidFill>
                  <a:srgbClr val="536471"/>
                </a:solidFill>
              </a:rPr>
              <a:t>Demo script</a:t>
            </a:r>
          </a:p>
          <a:p xmlns:a="http://schemas.openxmlformats.org/drawingml/2006/main">
            <a:pPr>
              <a:defRPr sz="1350">
                <a:solidFill>
                  <a:srgbClr val="536471"/>
                </a:solidFill>
              </a:defRPr>
            </a:pPr>
            <a:r>
              <a:rPr sz="1350">
                <a:solidFill>
                  <a:srgbClr val="536471"/>
                </a:solidFill>
              </a:rPr>
              <a:t>Objection handling</a:t>
            </a:r>
          </a:p>
          <a:p xmlns:a="http://schemas.openxmlformats.org/drawingml/2006/main">
            <a:pPr>
              <a:defRPr sz="1350">
                <a:solidFill>
                  <a:srgbClr val="536471"/>
                </a:solidFill>
              </a:defRPr>
            </a:pPr>
            <a:r>
              <a:rPr sz="1350">
                <a:solidFill>
                  <a:srgbClr val="536471"/>
                </a:solidFill>
              </a:rPr>
              <a:t>CRM follow-up</a:t>
            </a:r>
          </a:p>
        </p:txBody>
      </p:sp>
      <p:sp>
        <p:nvSpPr>
          <p:cNvPr id="11" name="phase-2">
            <a:extLst xmlns:a="http://schemas.openxmlformats.org/drawingml/2006/main">
              <a:ext uri="{FF2B5EF4-FFF2-40B4-BE49-F238E27FC236}">
                <a16:creationId xmlns:a16="http://schemas.microsoft.com/office/drawing/2014/main" id="{23B7E48F-F6F6-478A-A55A-63A31A8F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76400"/>
            <a:ext cx="2552700" cy="3562350"/>
          </a:xfrm>
          <a:prstGeom xmlns:a="http://schemas.openxmlformats.org/drawingml/2006/main" prst="roundRect">
            <a:avLst>
              <a:gd name="adj" fmla="val 8209"/>
            </a:avLst>
          </a:prstGeom>
          <a:solidFill xmlns:a="http://schemas.openxmlformats.org/drawingml/2006/main">
            <a:srgbClr val="F8F6F1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</p:sp>
      <p:sp>
        <p:nvSpPr>
          <p:cNvPr id="12" name="phase-time-2">
            <a:extLst xmlns:a="http://schemas.openxmlformats.org/drawingml/2006/main">
              <a:ext uri="{FF2B5EF4-FFF2-40B4-BE49-F238E27FC236}">
                <a16:creationId xmlns:a16="http://schemas.microsoft.com/office/drawing/2014/main" id="{639F0782-783D-43E3-8A93-593B736D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431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7333"/>
                </a:solidFill>
              </a:defRPr>
            </a:pPr>
            <a:r>
              <a:rPr sz="900" b="1">
                <a:solidFill>
                  <a:srgbClr val="B87333"/>
                </a:solidFill>
              </a:rPr>
              <a:t>DAYS 31–60</a:t>
            </a:r>
          </a:p>
        </p:txBody>
      </p:sp>
      <p:sp>
        <p:nvSpPr>
          <p:cNvPr id="13" name="phase-name-2">
            <a:extLst xmlns:a="http://schemas.openxmlformats.org/drawingml/2006/main">
              <a:ext uri="{FF2B5EF4-FFF2-40B4-BE49-F238E27FC236}">
                <a16:creationId xmlns:a16="http://schemas.microsoft.com/office/drawing/2014/main" id="{3A23C0C4-BDBD-4574-9E6F-3D656318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030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Activate</a:t>
            </a:r>
          </a:p>
        </p:txBody>
      </p:sp>
      <p:sp>
        <p:nvSpPr>
          <p:cNvPr id="14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4A65FA16-DCAD-4765-8454-A7EAEDD8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62300"/>
            <a:ext cx="2057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471"/>
                </a:solidFill>
              </a:defRPr>
            </a:pPr>
            <a:r>
              <a:rPr sz="1350">
                <a:solidFill>
                  <a:srgbClr val="536471"/>
                </a:solidFill>
              </a:rPr>
              <a:t>Local consultations</a:t>
            </a:r>
          </a:p>
          <a:p xmlns:a="http://schemas.openxmlformats.org/drawingml/2006/main">
            <a:pPr>
              <a:defRPr sz="1350">
                <a:solidFill>
                  <a:srgbClr val="536471"/>
                </a:solidFill>
              </a:defRPr>
            </a:pPr>
            <a:r>
              <a:rPr sz="1350">
                <a:solidFill>
                  <a:srgbClr val="536471"/>
                </a:solidFill>
              </a:rPr>
              <a:t>Referral partners</a:t>
            </a:r>
          </a:p>
          <a:p xmlns:a="http://schemas.openxmlformats.org/drawingml/2006/main">
            <a:pPr>
              <a:defRPr sz="1350">
                <a:solidFill>
                  <a:srgbClr val="536471"/>
                </a:solidFill>
              </a:defRPr>
            </a:pPr>
            <a:r>
              <a:rPr sz="1350">
                <a:solidFill>
                  <a:srgbClr val="536471"/>
                </a:solidFill>
              </a:rPr>
              <a:t>Weekly content</a:t>
            </a:r>
          </a:p>
        </p:txBody>
      </p:sp>
      <p:sp>
        <p:nvSpPr>
          <p:cNvPr id="15" name="phase-3">
            <a:extLst xmlns:a="http://schemas.openxmlformats.org/drawingml/2006/main">
              <a:ext uri="{FF2B5EF4-FFF2-40B4-BE49-F238E27FC236}">
                <a16:creationId xmlns:a16="http://schemas.microsoft.com/office/drawing/2014/main" id="{C444CC71-3DBD-46B6-9EE7-32A3E2FA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76400"/>
            <a:ext cx="2552700" cy="3562350"/>
          </a:xfrm>
          <a:prstGeom xmlns:a="http://schemas.openxmlformats.org/drawingml/2006/main" prst="roundRect">
            <a:avLst>
              <a:gd name="adj" fmla="val 8209"/>
            </a:avLst>
          </a:prstGeom>
          <a:solidFill xmlns:a="http://schemas.openxmlformats.org/drawingml/2006/main">
            <a:srgbClr val="F8F6F1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</p:sp>
      <p:sp>
        <p:nvSpPr>
          <p:cNvPr id="16" name="phase-time-3">
            <a:extLst xmlns:a="http://schemas.openxmlformats.org/drawingml/2006/main">
              <a:ext uri="{FF2B5EF4-FFF2-40B4-BE49-F238E27FC236}">
                <a16:creationId xmlns:a16="http://schemas.microsoft.com/office/drawing/2014/main" id="{9D1C7370-EFDF-4954-8836-4029C7D4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431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7333"/>
                </a:solidFill>
              </a:defRPr>
            </a:pPr>
            <a:r>
              <a:rPr sz="900" b="1">
                <a:solidFill>
                  <a:srgbClr val="B87333"/>
                </a:solidFill>
              </a:rPr>
              <a:t>DAYS 61–90</a:t>
            </a:r>
          </a:p>
        </p:txBody>
      </p:sp>
      <p:sp>
        <p:nvSpPr>
          <p:cNvPr id="17" name="phase-name-3">
            <a:extLst xmlns:a="http://schemas.openxmlformats.org/drawingml/2006/main">
              <a:ext uri="{FF2B5EF4-FFF2-40B4-BE49-F238E27FC236}">
                <a16:creationId xmlns:a16="http://schemas.microsoft.com/office/drawing/2014/main" id="{30571DE1-C9E8-48D7-9449-23E94592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0030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Improve</a:t>
            </a:r>
          </a:p>
        </p:txBody>
      </p:sp>
      <p:sp>
        <p:nvSpPr>
          <p:cNvPr id="18" name="phase-body-3">
            <a:extLst xmlns:a="http://schemas.openxmlformats.org/drawingml/2006/main">
              <a:ext uri="{FF2B5EF4-FFF2-40B4-BE49-F238E27FC236}">
                <a16:creationId xmlns:a16="http://schemas.microsoft.com/office/drawing/2014/main" id="{E337FD54-F553-42BC-9989-2779DE39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62300"/>
            <a:ext cx="2057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471"/>
                </a:solidFill>
              </a:defRPr>
            </a:pPr>
            <a:r>
              <a:rPr sz="1350">
                <a:solidFill>
                  <a:srgbClr val="536471"/>
                </a:solidFill>
              </a:rPr>
              <a:t>Review funnel</a:t>
            </a:r>
          </a:p>
          <a:p xmlns:a="http://schemas.openxmlformats.org/drawingml/2006/main">
            <a:pPr>
              <a:defRPr sz="1350">
                <a:solidFill>
                  <a:srgbClr val="536471"/>
                </a:solidFill>
              </a:defRPr>
            </a:pPr>
            <a:r>
              <a:rPr sz="1350">
                <a:solidFill>
                  <a:srgbClr val="536471"/>
                </a:solidFill>
              </a:rPr>
              <a:t>Strengthen follow-up</a:t>
            </a:r>
          </a:p>
          <a:p xmlns:a="http://schemas.openxmlformats.org/drawingml/2006/main">
            <a:pPr>
              <a:defRPr sz="1350">
                <a:solidFill>
                  <a:srgbClr val="536471"/>
                </a:solidFill>
              </a:defRPr>
            </a:pPr>
            <a:r>
              <a:rPr sz="1350">
                <a:solidFill>
                  <a:srgbClr val="536471"/>
                </a:solidFill>
              </a:rPr>
              <a:t>Escalate service well</a:t>
            </a:r>
          </a:p>
        </p:txBody>
      </p:sp>
      <p:sp>
        <p:nvSpPr>
          <p:cNvPr id="19" name="terms-note">
            <a:extLst xmlns:a="http://schemas.openxmlformats.org/drawingml/2006/main">
              <a:ext uri="{FF2B5EF4-FFF2-40B4-BE49-F238E27FC236}">
                <a16:creationId xmlns:a16="http://schemas.microsoft.com/office/drawing/2014/main" id="{B46990DC-562B-48E5-BC03-6442F896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66D"/>
                </a:solidFill>
              </a:defRPr>
            </a:pPr>
            <a:r>
              <a:rPr sz="1275" b="1">
                <a:solidFill>
                  <a:srgbClr val="08766D"/>
                </a:solidFill>
              </a:rPr>
              <a:t>Before investing, request the current official agreement, fees, margin/commission schedule, returns policy, territory rules and support commitments in writing.</a:t>
            </a:r>
          </a:p>
        </p:txBody>
      </p:sp>
      <p:sp>
        <p:nvSpPr>
          <p:cNvPr id="20" name="footer-8">
            <a:extLst xmlns:a="http://schemas.openxmlformats.org/drawingml/2006/main">
              <a:ext uri="{FF2B5EF4-FFF2-40B4-BE49-F238E27FC236}">
                <a16:creationId xmlns:a16="http://schemas.microsoft.com/office/drawing/2014/main" id="{BF458B9C-1D3B-464C-A30C-13709FB9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A8A96"/>
                </a:solidFill>
              </a:defRPr>
            </a:pPr>
            <a:r>
              <a:rPr sz="750">
                <a:solidFill>
                  <a:srgbClr val="7A8A96"/>
                </a:solidFill>
              </a:rPr>
              <a:t>WELLWA LIFE  •  BUSINESS OPPORTUNITY OVERVIEW                                   08</a:t>
            </a:r>
          </a:p>
        </p:txBody>
      </p:sp>
    </p:spTree>
    <p:extLst>
      <p:ext uri="{BB962C8B-B14F-4D97-AF65-F5344CB8AC3E}">
        <p14:creationId xmlns:p14="http://schemas.microsoft.com/office/powerpoint/2010/main" val="3424219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766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30A39211-8C1D-481B-BCAF-1648B842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1EB"/>
                </a:solidFill>
              </a:defRPr>
            </a:pPr>
            <a:r>
              <a:rPr sz="1050" b="1">
                <a:solidFill>
                  <a:srgbClr val="B8F1EB"/>
                </a:solidFill>
              </a:rPr>
              <a:t>NEXT STEP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6A0C6C1C-358F-488C-AF9B-CA8185CC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Experience the product.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Then evaluate the business.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7E33EF0D-CF59-4834-B30E-DF89CAD1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9F2EF"/>
                </a:solidFill>
              </a:defRPr>
            </a:pPr>
            <a:r>
              <a:rPr sz="1650">
                <a:solidFill>
                  <a:srgbClr val="D9F2EF"/>
                </a:solidFill>
              </a:rPr>
              <a:t>Book a product consultation, review the Aura range, and request the current official distributor terms before making a decision.</a:t>
            </a:r>
          </a:p>
        </p:txBody>
      </p:sp>
      <p:sp>
        <p:nvSpPr>
          <p:cNvPr id="4" name="contact-box">
            <a:extLst xmlns:a="http://schemas.openxmlformats.org/drawingml/2006/main">
              <a:ext uri="{FF2B5EF4-FFF2-40B4-BE49-F238E27FC236}">
                <a16:creationId xmlns:a16="http://schemas.microsoft.com/office/drawing/2014/main" id="{389743F2-30E4-4EB6-950C-65F1F8DB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5429250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tact">
            <a:extLst xmlns:a="http://schemas.openxmlformats.org/drawingml/2006/main">
              <a:ext uri="{FF2B5EF4-FFF2-40B4-BE49-F238E27FC236}">
                <a16:creationId xmlns:a16="http://schemas.microsoft.com/office/drawing/2014/main" id="{5B545868-ADEA-44D6-95FC-C5F818FE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wellwalife.com/distributor/apply</a:t>
            </a:r>
          </a:p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+91 74109 95599  •  info@wellwalife.com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a13284ebe430b"/>
          <a:stretch xmlns:a="http://schemas.openxmlformats.org/drawingml/2006/main"/>
        </p:blipFill>
        <p:spPr>
          <a:xfrm xmlns:a="http://schemas.openxmlformats.org/drawingml/2006/main">
            <a:off x="7620000" y="1666875"/>
            <a:ext cx="3524250" cy="3524250"/>
          </a:xfrm>
          <a:prstGeom xmlns:a="http://schemas.openxmlformats.org/drawingml/2006/main" prst="roundRect">
            <a:avLst>
              <a:gd name="adj" fmla="val 5946"/>
            </a:avLst>
          </a:prstGeom>
        </p:spPr>
      </p:pic>
    </p:spTree>
    <p:extLst>
      <p:ext uri="{BB962C8B-B14F-4D97-AF65-F5344CB8AC3E}">
        <p14:creationId xmlns:p14="http://schemas.microsoft.com/office/powerpoint/2010/main" val="846474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2026-08-09T09:03:18.8580000Z</dcterms:created>
  <dcterms:modified xsi:type="dcterms:W3CDTF">2026-08-09T09:03:18.8590000Z</dcterms:modified>
</coreProperties>
</file>